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81" r:id="rId3"/>
    <p:sldId id="266" r:id="rId4"/>
    <p:sldId id="282" r:id="rId5"/>
    <p:sldId id="257" r:id="rId6"/>
    <p:sldId id="260" r:id="rId7"/>
    <p:sldId id="265" r:id="rId8"/>
    <p:sldId id="283" r:id="rId9"/>
    <p:sldId id="261" r:id="rId10"/>
    <p:sldId id="262" r:id="rId11"/>
    <p:sldId id="263" r:id="rId12"/>
    <p:sldId id="264" r:id="rId13"/>
    <p:sldId id="25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ED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C97E2-5A85-BD4A-86D8-CB80AA789AB8}" v="27" dt="2025-11-19T09:36:20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24"/>
    <p:restoredTop sz="94570"/>
  </p:normalViewPr>
  <p:slideViewPr>
    <p:cSldViewPr snapToGrid="0">
      <p:cViewPr>
        <p:scale>
          <a:sx n="72" d="100"/>
          <a:sy n="72" d="100"/>
        </p:scale>
        <p:origin x="17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6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8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3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4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4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4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6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82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8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3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9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0B34AFF-6F55-F243-8682-D24884EFB67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8CB20D8-074F-C148-8CB7-D3D1005F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9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6860-39EB-289D-567D-56BFE927D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711106"/>
            <a:ext cx="8991600" cy="997196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1"/>
                </a:solidFill>
              </a:rPr>
              <a:t>Tutorial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D51B7-423A-FC50-D1F8-584369D22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11148"/>
            <a:ext cx="6801612" cy="1101350"/>
          </a:xfrm>
        </p:spPr>
        <p:txBody>
          <a:bodyPr>
            <a:normAutofit/>
          </a:bodyPr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166114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5ED4-4FDF-248E-DD18-6C7ECB6D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Recap-</a:t>
            </a:r>
            <a:r>
              <a:rPr lang="en-US" dirty="0" err="1"/>
              <a:t>Varargs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413B-8171-B48B-A053-9D86BAE8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666" y="2638044"/>
            <a:ext cx="9433107" cy="3101983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A9FFA7"/>
                </a:solidFill>
              </a:rPr>
              <a:t>Bsp</a:t>
            </a:r>
            <a:r>
              <a:rPr lang="en-US" sz="2800" dirty="0">
                <a:solidFill>
                  <a:srgbClr val="A9FFA7"/>
                </a:solidFill>
              </a:rPr>
              <a:t>: </a:t>
            </a:r>
            <a:r>
              <a:rPr lang="en-US" sz="2400" dirty="0">
                <a:solidFill>
                  <a:srgbClr val="A9FFA7"/>
                </a:solidFill>
              </a:rPr>
              <a:t>Du </a:t>
            </a:r>
            <a:r>
              <a:rPr lang="en-US" sz="2400" dirty="0" err="1">
                <a:solidFill>
                  <a:srgbClr val="A9FFA7"/>
                </a:solidFill>
              </a:rPr>
              <a:t>willst</a:t>
            </a:r>
            <a:r>
              <a:rPr lang="en-US" sz="2400" dirty="0">
                <a:solidFill>
                  <a:srgbClr val="A9FFA7"/>
                </a:solidFill>
              </a:rPr>
              <a:t> 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alle Zahlen </a:t>
            </a:r>
            <a:r>
              <a:rPr lang="en-US" altLang="en-US" sz="2400" dirty="0" err="1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addieren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, egal </a:t>
            </a:r>
            <a:r>
              <a:rPr lang="en-US" altLang="en-US" sz="2400" dirty="0" err="1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ob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 2, 3 </a:t>
            </a:r>
            <a:r>
              <a:rPr lang="en-US" altLang="en-US" sz="2400" dirty="0" err="1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oder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 10 Stück.</a:t>
            </a:r>
          </a:p>
          <a:p>
            <a:r>
              <a:rPr lang="en-US" sz="24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Normalerweise</a:t>
            </a:r>
            <a:r>
              <a:rPr lang="en-US" sz="2400" u="sng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r>
              <a:rPr lang="en-US" dirty="0">
                <a:solidFill>
                  <a:srgbClr val="FF88E6"/>
                </a:solidFill>
                <a:latin typeface="Arial" panose="020B0604020202020204" pitchFamily="34" charset="0"/>
              </a:rPr>
              <a:t>sum(1, 2);</a:t>
            </a:r>
          </a:p>
          <a:p>
            <a:r>
              <a:rPr lang="en-US" dirty="0">
                <a:solidFill>
                  <a:srgbClr val="FF88E6"/>
                </a:solidFill>
                <a:latin typeface="Arial" panose="020B0604020202020204" pitchFamily="34" charset="0"/>
              </a:rPr>
              <a:t>sum(1, 2, 3);</a:t>
            </a:r>
          </a:p>
          <a:p>
            <a:r>
              <a:rPr lang="en-US" dirty="0">
                <a:solidFill>
                  <a:srgbClr val="FF88E6"/>
                </a:solidFill>
                <a:latin typeface="Arial" panose="020B0604020202020204" pitchFamily="34" charset="0"/>
              </a:rPr>
              <a:t>sum(1, 2, 3, 4);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Mit 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Varargs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 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geht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 das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alles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mit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 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einer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 Methode!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227D979-E0AF-AC7E-B580-336F79E67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55" y="3429000"/>
            <a:ext cx="3759076" cy="23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6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BF1A-A248-CD45-66D0-74B7A802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Recap-</a:t>
            </a:r>
            <a:r>
              <a:rPr lang="en-US" dirty="0" err="1"/>
              <a:t>Varargs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8DABC-66CD-E0F8-E1E3-114ED4AEA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85" y="2590619"/>
            <a:ext cx="5827479" cy="310198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Varargs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einfach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nur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Arrays</a:t>
            </a:r>
          </a:p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erzeugen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Hintergrund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neues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Array</a:t>
            </a:r>
          </a:p>
          <a:p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ABER:</a:t>
            </a:r>
            <a:r>
              <a:rPr lang="en-US" altLang="en-US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Die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Varargs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-Version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ist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bequemer</a:t>
            </a:r>
            <a:r>
              <a:rPr lang="en-US" alt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aufzurufen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weil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man </a:t>
            </a:r>
            <a:r>
              <a:rPr lang="en-US" alt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nicht </a:t>
            </a:r>
            <a:r>
              <a:rPr lang="en-US" altLang="en-US" sz="28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selbst</a:t>
            </a:r>
            <a:r>
              <a:rPr lang="en-US" alt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das Array </a:t>
            </a:r>
            <a:r>
              <a:rPr lang="en-US" altLang="en-US" sz="28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schreiben</a:t>
            </a:r>
            <a:r>
              <a:rPr lang="en-US" alt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muss.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ack background with white and orange text&#10;&#10;AI-generated content may be incorrect.">
            <a:extLst>
              <a:ext uri="{FF2B5EF4-FFF2-40B4-BE49-F238E27FC236}">
                <a16:creationId xmlns:a16="http://schemas.microsoft.com/office/drawing/2014/main" id="{53076805-102D-904C-CE11-7CBD6B294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964" y="2590619"/>
            <a:ext cx="2438400" cy="1143000"/>
          </a:xfrm>
          <a:prstGeom prst="rect">
            <a:avLst/>
          </a:prstGeom>
        </p:spPr>
      </p:pic>
      <p:pic>
        <p:nvPicPr>
          <p:cNvPr id="7" name="Picture 6" descr="A black screen with white and orange text&#10;&#10;AI-generated content may be incorrect.">
            <a:extLst>
              <a:ext uri="{FF2B5EF4-FFF2-40B4-BE49-F238E27FC236}">
                <a16:creationId xmlns:a16="http://schemas.microsoft.com/office/drawing/2014/main" id="{0D1AB4DA-CED2-814B-5893-CB74182E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0" y="2571569"/>
            <a:ext cx="2298700" cy="1181100"/>
          </a:xfrm>
          <a:prstGeom prst="rect">
            <a:avLst/>
          </a:prstGeom>
        </p:spPr>
      </p:pic>
      <p:pic>
        <p:nvPicPr>
          <p:cNvPr id="11" name="Picture 1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A54C583-BCB2-3EBE-CF13-EAF9C10EC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308" y="4687767"/>
            <a:ext cx="5644683" cy="14454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36A2CD-7415-C9B6-AD33-4A402F111CF6}"/>
              </a:ext>
            </a:extLst>
          </p:cNvPr>
          <p:cNvSpPr txBox="1"/>
          <p:nvPr/>
        </p:nvSpPr>
        <p:spPr>
          <a:xfrm>
            <a:off x="9135673" y="2866591"/>
            <a:ext cx="82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389382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41D7-0D1D-31B6-52D6-1BB88F6C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Regeln </a:t>
            </a:r>
            <a:r>
              <a:rPr lang="en-US" dirty="0" err="1"/>
              <a:t>Varargs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5A11CE-5DEF-BEEB-1AE2-2EAFB1B9B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423616"/>
            <a:ext cx="717536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Regeln: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Du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darfst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nur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ein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Varargs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-Parameter pro Methode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haben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88E6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Er muss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am Ende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 der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Parameterliste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stehen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E192D-E68F-4343-1587-7B772D3E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626" y="4294258"/>
            <a:ext cx="6789872" cy="81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32AF-A377-543D-A4F8-82C4A93D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steht</a:t>
            </a:r>
            <a:r>
              <a:rPr lang="en-US" dirty="0"/>
              <a:t> 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05E8-FA6E-D91F-951F-B3A5E5131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Class and Objects </a:t>
            </a:r>
          </a:p>
          <a:p>
            <a:r>
              <a:rPr lang="en-US" sz="2800" dirty="0" err="1"/>
              <a:t>Instanzvariablen</a:t>
            </a:r>
            <a:r>
              <a:rPr lang="en-US" sz="2800" dirty="0"/>
              <a:t> und Co</a:t>
            </a:r>
          </a:p>
          <a:p>
            <a:r>
              <a:rPr lang="en-US" sz="2800" dirty="0"/>
              <a:t>Kurz Javadoc</a:t>
            </a:r>
          </a:p>
          <a:p>
            <a:r>
              <a:rPr lang="en-US" sz="2800" dirty="0" err="1"/>
              <a:t>Instanzmethoden</a:t>
            </a:r>
            <a:r>
              <a:rPr lang="en-US" sz="2800" dirty="0"/>
              <a:t> </a:t>
            </a:r>
          </a:p>
          <a:p>
            <a:r>
              <a:rPr lang="en-US" sz="2800" dirty="0"/>
              <a:t>Getter und setter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017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A3C3-4C7B-7DC2-39A1-A126CD45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766F0-D483-1ACF-BEB0-45C13A0A1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83" y="2690728"/>
            <a:ext cx="6246114" cy="38318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Class: Bauplan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konkretes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Ding, das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dem Bauplan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erzeugt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Instanzvariablen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gehören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zu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einzelnem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jedes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eigenen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Wert (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z.B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Klassenvariablen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Wert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für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Objekte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Gleich (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z.B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Uniform </a:t>
            </a:r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6" name="Picture 5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A06D60C9-5C34-13FA-F60E-8977B6A9B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57" y="4375797"/>
            <a:ext cx="5109843" cy="2146739"/>
          </a:xfrm>
          <a:prstGeom prst="rect">
            <a:avLst/>
          </a:prstGeom>
        </p:spPr>
      </p:pic>
      <p:pic>
        <p:nvPicPr>
          <p:cNvPr id="8" name="Picture 7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6851FBF1-5924-B1BA-E293-98772E5D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897" y="2191235"/>
            <a:ext cx="5124303" cy="191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5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5672-A532-4C8B-1FFE-F98EB581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5D3A-3F0B-B2F7-6D5C-24BD2E91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2324594"/>
            <a:ext cx="5474524" cy="3336967"/>
          </a:xfrm>
        </p:spPr>
        <p:txBody>
          <a:bodyPr>
            <a:normAutofit fontScale="77500" lnSpcReduction="200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900" u="sng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Instanzvariablen</a:t>
            </a:r>
            <a:endParaRPr lang="en-US" altLang="en-US" sz="2900" u="sng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Das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sind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Eigenschaften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jedes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einzelnen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Autos</a:t>
            </a:r>
            <a:b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29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Farbe</a:t>
            </a:r>
            <a:r>
              <a:rPr lang="en-US" altLang="en-US" sz="29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9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</a:t>
            </a:r>
            <a:r>
              <a:rPr lang="en-US" altLang="en-US" sz="29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9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</a:t>
            </a:r>
            <a:b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2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900" u="sng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Instanzmethoden</a:t>
            </a:r>
            <a:endParaRPr lang="en-US" altLang="en-US" sz="2900" u="sng" dirty="0">
              <a:solidFill>
                <a:schemeClr val="accent5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Das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sind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Fähigkeiten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einzelner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Autos</a:t>
            </a:r>
            <a:b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29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fahren</a:t>
            </a:r>
            <a:r>
              <a:rPr lang="en-US" altLang="en-US" sz="29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(), </a:t>
            </a:r>
            <a:r>
              <a:rPr lang="en-US" altLang="en-US" sz="29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bremsen</a:t>
            </a:r>
            <a:r>
              <a:rPr lang="en-US" altLang="en-US" sz="29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b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Jedes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Auto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führt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die Methode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selbst</a:t>
            </a:r>
            <a:r>
              <a:rPr lang="en-US" altLang="en-US" sz="2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aus.</a:t>
            </a:r>
            <a:endParaRPr lang="en-US" altLang="en-US" sz="2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9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FD1A2-02F2-B370-D82C-EF2B9F1006B5}"/>
              </a:ext>
            </a:extLst>
          </p:cNvPr>
          <p:cNvSpPr txBox="1"/>
          <p:nvPr/>
        </p:nvSpPr>
        <p:spPr>
          <a:xfrm>
            <a:off x="5723906" y="2284917"/>
            <a:ext cx="62187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u="sng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Klassenvariablen</a:t>
            </a:r>
            <a:endParaRPr lang="en-US" altLang="en-US" sz="2400" u="sng" dirty="0">
              <a:solidFill>
                <a:schemeClr val="accent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Das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sind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Eigenschaften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die für alle Autos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gelten</a:t>
            </a:r>
            <a:b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24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AnzahlAllerAutos</a:t>
            </a:r>
            <a:b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Alle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teilen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sich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diese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u="sng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Klassenmethoden</a:t>
            </a:r>
            <a:endParaRPr lang="en-US" altLang="en-US" sz="2400" u="sng" dirty="0">
              <a:solidFill>
                <a:schemeClr val="bg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Das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sind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Funktionen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die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nichts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von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einem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einzelnen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brauchen</a:t>
            </a:r>
            <a:b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4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24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z.B.</a:t>
            </a:r>
            <a:r>
              <a:rPr lang="en-US" altLang="en-US" sz="24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mathematische</a:t>
            </a:r>
            <a:r>
              <a:rPr lang="en-US" altLang="en-US" sz="24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Hilfsfunktionen</a:t>
            </a:r>
            <a:r>
              <a:rPr lang="en-US" altLang="en-US" sz="24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altLang="en-US" sz="24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ggt</a:t>
            </a:r>
            <a:r>
              <a:rPr lang="en-US" altLang="en-US" sz="2400" dirty="0">
                <a:solidFill>
                  <a:srgbClr val="72ED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4969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71DC-C6CD-223B-7D04-3F98A0C2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Access Modifiers</a:t>
            </a:r>
          </a:p>
        </p:txBody>
      </p:sp>
      <p:pic>
        <p:nvPicPr>
          <p:cNvPr id="5" name="Content Placeholder 4" descr="A colorful circles with text&#10;&#10;AI-generated content may be incorrect.">
            <a:extLst>
              <a:ext uri="{FF2B5EF4-FFF2-40B4-BE49-F238E27FC236}">
                <a16:creationId xmlns:a16="http://schemas.microsoft.com/office/drawing/2014/main" id="{5ED6FA31-DFD1-46D8-4026-ABFC5167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935" y="2403963"/>
            <a:ext cx="6850130" cy="4268319"/>
          </a:xfrm>
        </p:spPr>
      </p:pic>
    </p:spTree>
    <p:extLst>
      <p:ext uri="{BB962C8B-B14F-4D97-AF65-F5344CB8AC3E}">
        <p14:creationId xmlns:p14="http://schemas.microsoft.com/office/powerpoint/2010/main" val="176833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E465-7A54-EEF4-A666-275DF7A5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 und Setter</a:t>
            </a:r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69511164-5260-65E6-6D8B-0038EDD71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9328" y="2780673"/>
            <a:ext cx="7520307" cy="3112635"/>
          </a:xfrm>
        </p:spPr>
      </p:pic>
    </p:spTree>
    <p:extLst>
      <p:ext uri="{BB962C8B-B14F-4D97-AF65-F5344CB8AC3E}">
        <p14:creationId xmlns:p14="http://schemas.microsoft.com/office/powerpoint/2010/main" val="291084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0AD7-7817-A4F2-8D92-1B3757DE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36DDAB5-9508-D10C-908D-4C7BCC551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650" y="530904"/>
            <a:ext cx="11184700" cy="5796192"/>
          </a:xfrm>
        </p:spPr>
      </p:pic>
    </p:spTree>
    <p:extLst>
      <p:ext uri="{BB962C8B-B14F-4D97-AF65-F5344CB8AC3E}">
        <p14:creationId xmlns:p14="http://schemas.microsoft.com/office/powerpoint/2010/main" val="273774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970-EB6B-C1DF-C644-1FE2E125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B08596F4-2A06-68BF-2C3C-0AF8B0C60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461" y="481012"/>
            <a:ext cx="10533078" cy="5895975"/>
          </a:xfrm>
        </p:spPr>
      </p:pic>
    </p:spTree>
    <p:extLst>
      <p:ext uri="{BB962C8B-B14F-4D97-AF65-F5344CB8AC3E}">
        <p14:creationId xmlns:p14="http://schemas.microsoft.com/office/powerpoint/2010/main" val="1857931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B682-13C3-0AE2-0D85-409089188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A5E5BC9F-10D9-A200-34CE-3770499AD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43" y="676083"/>
            <a:ext cx="11633714" cy="3493660"/>
          </a:xfrm>
        </p:spPr>
      </p:pic>
    </p:spTree>
    <p:extLst>
      <p:ext uri="{BB962C8B-B14F-4D97-AF65-F5344CB8AC3E}">
        <p14:creationId xmlns:p14="http://schemas.microsoft.com/office/powerpoint/2010/main" val="300129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8808-107A-E871-E79A-97C03CA8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FB23FC6-7619-1961-B92C-CCC4808D2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005" y="320546"/>
            <a:ext cx="11259990" cy="6216907"/>
          </a:xfrm>
        </p:spPr>
      </p:pic>
    </p:spTree>
    <p:extLst>
      <p:ext uri="{BB962C8B-B14F-4D97-AF65-F5344CB8AC3E}">
        <p14:creationId xmlns:p14="http://schemas.microsoft.com/office/powerpoint/2010/main" val="271628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1196</TotalTime>
  <Words>268</Words>
  <Application>Microsoft Macintosh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Gill Sans MT</vt:lpstr>
      <vt:lpstr>Parcel</vt:lpstr>
      <vt:lpstr>Tutorial 5</vt:lpstr>
      <vt:lpstr>Recap-Varargs</vt:lpstr>
      <vt:lpstr>Recap-Varargs</vt:lpstr>
      <vt:lpstr>Regeln Varargs</vt:lpstr>
      <vt:lpstr>Was steht an?</vt:lpstr>
      <vt:lpstr>Class</vt:lpstr>
      <vt:lpstr>Class</vt:lpstr>
      <vt:lpstr>Access Modifiers</vt:lpstr>
      <vt:lpstr>Getter und Setter</vt:lpstr>
      <vt:lpstr>PowerPoint Presentation</vt:lpstr>
      <vt:lpstr>PowerPoint Presentation</vt:lpstr>
      <vt:lpstr>PowerPoint Presentation</vt:lpstr>
      <vt:lpstr>PowerPoint Presentation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2025-11-16T14:32:16Z</dcterms:created>
  <dcterms:modified xsi:type="dcterms:W3CDTF">2025-11-19T20:44:47Z</dcterms:modified>
</cp:coreProperties>
</file>