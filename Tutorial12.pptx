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75" r:id="rId5"/>
    <p:sldId id="276" r:id="rId6"/>
    <p:sldId id="277" r:id="rId7"/>
    <p:sldId id="284" r:id="rId8"/>
    <p:sldId id="278" r:id="rId9"/>
    <p:sldId id="279" r:id="rId10"/>
    <p:sldId id="280" r:id="rId11"/>
    <p:sldId id="281" r:id="rId12"/>
    <p:sldId id="282" r:id="rId13"/>
    <p:sldId id="285" r:id="rId14"/>
    <p:sldId id="274" r:id="rId15"/>
    <p:sldId id="286" r:id="rId16"/>
    <p:sldId id="287" r:id="rId17"/>
    <p:sldId id="290" r:id="rId18"/>
    <p:sldId id="288" r:id="rId19"/>
    <p:sldId id="289" r:id="rId20"/>
    <p:sldId id="291" r:id="rId21"/>
    <p:sldId id="295" r:id="rId22"/>
    <p:sldId id="293" r:id="rId23"/>
    <p:sldId id="294" r:id="rId24"/>
    <p:sldId id="27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F3"/>
    <a:srgbClr val="FF73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A314D9-9078-3E44-AE4B-2A371B20F13F}" v="7" dt="2026-01-20T10:03:26.1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79"/>
    <p:restoredTop sz="94646"/>
  </p:normalViewPr>
  <p:slideViewPr>
    <p:cSldViewPr snapToGrid="0">
      <p:cViewPr varScale="1">
        <p:scale>
          <a:sx n="108" d="100"/>
          <a:sy n="108" d="100"/>
        </p:scale>
        <p:origin x="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08C9B-6C6F-6749-BBF6-047867CB68D1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D2D65-34ED-E348-88EA-5E62AA36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46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08C9B-6C6F-6749-BBF6-047867CB68D1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D2D65-34ED-E348-88EA-5E62AA36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126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08C9B-6C6F-6749-BBF6-047867CB68D1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D2D65-34ED-E348-88EA-5E62AA36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145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08C9B-6C6F-6749-BBF6-047867CB68D1}" type="datetimeFigureOut">
              <a:rPr lang="en-US" smtClean="0"/>
              <a:t>1/20/26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D2D65-34ED-E348-88EA-5E62AA36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628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08C9B-6C6F-6749-BBF6-047867CB68D1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D2D65-34ED-E348-88EA-5E62AA36C56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601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08C9B-6C6F-6749-BBF6-047867CB68D1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D2D65-34ED-E348-88EA-5E62AA36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981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08C9B-6C6F-6749-BBF6-047867CB68D1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D2D65-34ED-E348-88EA-5E62AA36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29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08C9B-6C6F-6749-BBF6-047867CB68D1}" type="datetimeFigureOut">
              <a:rPr lang="en-US" smtClean="0"/>
              <a:t>1/20/26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D2D65-34ED-E348-88EA-5E62AA36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76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9C08C9B-6C6F-6749-BBF6-047867CB68D1}" type="datetimeFigureOut">
              <a:rPr lang="en-US" smtClean="0"/>
              <a:t>1/20/26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D2D65-34ED-E348-88EA-5E62AA36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805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08C9B-6C6F-6749-BBF6-047867CB68D1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D2D65-34ED-E348-88EA-5E62AA36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984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08C9B-6C6F-6749-BBF6-047867CB68D1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D2D65-34ED-E348-88EA-5E62AA36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633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9C08C9B-6C6F-6749-BBF6-047867CB68D1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32AD2D65-34ED-E348-88EA-5E62AA36C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2376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640CA-31E8-53F8-DD96-DF8CC3D6F3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Tutorial12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3372FD-AD49-F006-E82E-D3B390A599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Anne</a:t>
            </a:r>
          </a:p>
        </p:txBody>
      </p:sp>
    </p:spTree>
    <p:extLst>
      <p:ext uri="{BB962C8B-B14F-4D97-AF65-F5344CB8AC3E}">
        <p14:creationId xmlns:p14="http://schemas.microsoft.com/office/powerpoint/2010/main" val="95990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4735F-FDAE-1151-5B87-938D9A8EA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Klausur</a:t>
            </a:r>
            <a:r>
              <a:rPr lang="en-US" dirty="0"/>
              <a:t> </a:t>
            </a:r>
            <a:r>
              <a:rPr lang="en-US" dirty="0" err="1"/>
              <a:t>anmelden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47B41-2E0D-DEC8-0CA0-628DFDBBA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538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9B729-64E8-E35F-AA01-9CA9058D1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</a:t>
            </a:r>
          </a:p>
        </p:txBody>
      </p:sp>
      <p:pic>
        <p:nvPicPr>
          <p:cNvPr id="5" name="Picture 4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862E6848-7E23-E6C1-F75E-04614C418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341" y="2573437"/>
            <a:ext cx="7571317" cy="350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672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2AE36-A757-F77B-00D0-A0CFB249E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8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AA434D83-A433-F6D6-2922-2E15BF0207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5251" y="2477051"/>
            <a:ext cx="7341497" cy="4023140"/>
          </a:xfrm>
        </p:spPr>
      </p:pic>
    </p:spTree>
    <p:extLst>
      <p:ext uri="{BB962C8B-B14F-4D97-AF65-F5344CB8AC3E}">
        <p14:creationId xmlns:p14="http://schemas.microsoft.com/office/powerpoint/2010/main" val="2766053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3D312-60F4-513D-F5CF-EFE7698C0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065C4-2219-665C-2016-0E1159F86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672715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Wir </a:t>
            </a:r>
            <a:r>
              <a:rPr lang="en-US" sz="2400" dirty="0" err="1"/>
              <a:t>wollen</a:t>
            </a:r>
            <a:r>
              <a:rPr lang="en-US" sz="2400" dirty="0"/>
              <a:t>:  </a:t>
            </a:r>
            <a:r>
              <a:rPr lang="en-US" sz="2400" dirty="0" err="1"/>
              <a:t>Liste</a:t>
            </a:r>
            <a:r>
              <a:rPr lang="en-US" sz="2400" dirty="0"/>
              <a:t> </a:t>
            </a:r>
            <a:r>
              <a:rPr lang="en-US" sz="2400" dirty="0" err="1"/>
              <a:t>darf</a:t>
            </a:r>
            <a:r>
              <a:rPr lang="en-US" sz="2400" dirty="0"/>
              <a:t> NUR Buildings </a:t>
            </a:r>
            <a:r>
              <a:rPr lang="en-US" sz="2400" dirty="0" err="1"/>
              <a:t>enthalten</a:t>
            </a:r>
            <a:r>
              <a:rPr lang="en-US" sz="2400" dirty="0"/>
              <a:t> und Compiler </a:t>
            </a:r>
            <a:r>
              <a:rPr lang="en-US" sz="2400" dirty="0" err="1"/>
              <a:t>soll</a:t>
            </a:r>
            <a:r>
              <a:rPr lang="en-US" sz="2400" dirty="0"/>
              <a:t> das </a:t>
            </a:r>
            <a:r>
              <a:rPr lang="en-US" sz="2400" dirty="0" err="1"/>
              <a:t>erzwingen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0B51F9-FC2A-3BAC-80F7-3C1DA2560E63}"/>
              </a:ext>
            </a:extLst>
          </p:cNvPr>
          <p:cNvSpPr txBox="1"/>
          <p:nvPr/>
        </p:nvSpPr>
        <p:spPr>
          <a:xfrm>
            <a:off x="2480441" y="3333726"/>
            <a:ext cx="3079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Was </a:t>
            </a:r>
            <a:r>
              <a:rPr lang="en-US" sz="2400" dirty="0" err="1"/>
              <a:t>jetzt</a:t>
            </a:r>
            <a:r>
              <a:rPr lang="en-US" sz="2400" dirty="0"/>
              <a:t>?</a:t>
            </a:r>
          </a:p>
        </p:txBody>
      </p:sp>
      <p:pic>
        <p:nvPicPr>
          <p:cNvPr id="6" name="Picture 5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C6F32783-7B7E-AB4B-B1EA-94CD927FF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1" y="3333726"/>
            <a:ext cx="7008938" cy="3245750"/>
          </a:xfrm>
          <a:prstGeom prst="rect">
            <a:avLst/>
          </a:prstGeom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59A00E98-748A-A31A-A6BC-725E523BD396}"/>
              </a:ext>
            </a:extLst>
          </p:cNvPr>
          <p:cNvSpPr/>
          <p:nvPr/>
        </p:nvSpPr>
        <p:spPr>
          <a:xfrm>
            <a:off x="693683" y="4372303"/>
            <a:ext cx="3326523" cy="1292773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28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66795-205D-3781-F23B-BD5213C6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CA21A-29C8-871C-A838-BDA19CF45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Jetzt</a:t>
            </a:r>
            <a:r>
              <a:rPr lang="en-US" sz="2400" dirty="0"/>
              <a:t> </a:t>
            </a:r>
            <a:r>
              <a:rPr lang="en-US" sz="2400" dirty="0" err="1"/>
              <a:t>wollen</a:t>
            </a:r>
            <a:r>
              <a:rPr lang="en-US" sz="2400" dirty="0"/>
              <a:t> </a:t>
            </a:r>
            <a:r>
              <a:rPr lang="en-US" sz="2400" dirty="0" err="1"/>
              <a:t>wir</a:t>
            </a:r>
            <a:r>
              <a:rPr lang="en-US" sz="2400" dirty="0"/>
              <a:t> </a:t>
            </a:r>
            <a:r>
              <a:rPr lang="en-US" sz="2400" dirty="0" err="1"/>
              <a:t>selber</a:t>
            </a:r>
            <a:r>
              <a:rPr lang="en-US" sz="2400" dirty="0"/>
              <a:t> </a:t>
            </a:r>
            <a:r>
              <a:rPr lang="en-US" sz="2400" dirty="0" err="1"/>
              <a:t>generische</a:t>
            </a:r>
            <a:r>
              <a:rPr lang="en-US" sz="2400" dirty="0"/>
              <a:t> Klassen </a:t>
            </a:r>
            <a:r>
              <a:rPr lang="en-US" sz="2400" dirty="0" err="1"/>
              <a:t>schreiben</a:t>
            </a:r>
            <a:r>
              <a:rPr lang="en-US" sz="2400" dirty="0"/>
              <a:t> </a:t>
            </a:r>
            <a:r>
              <a:rPr lang="en-US" sz="2400" dirty="0">
                <a:sym typeface="Wingdings" pitchFamily="2" charset="2"/>
              </a:rPr>
              <a:t>:)</a:t>
            </a: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E1726CE-8919-55E8-04C5-C63E42A08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85" y="4518678"/>
            <a:ext cx="5215091" cy="13746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C2244F-0004-CC2A-8275-F49D365C70EC}"/>
              </a:ext>
            </a:extLst>
          </p:cNvPr>
          <p:cNvSpPr txBox="1"/>
          <p:nvPr/>
        </p:nvSpPr>
        <p:spPr>
          <a:xfrm>
            <a:off x="844062" y="3615397"/>
            <a:ext cx="2377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Ohne</a:t>
            </a:r>
            <a:r>
              <a:rPr lang="en-US" sz="2400" dirty="0"/>
              <a:t> Generics:</a:t>
            </a:r>
          </a:p>
        </p:txBody>
      </p:sp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90ACEC7-68DD-9FDA-C54A-454187AA2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543038"/>
            <a:ext cx="5605194" cy="13692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A6B9F6-FDF2-F533-FC7E-99075027E1E5}"/>
              </a:ext>
            </a:extLst>
          </p:cNvPr>
          <p:cNvSpPr txBox="1"/>
          <p:nvPr/>
        </p:nvSpPr>
        <p:spPr>
          <a:xfrm>
            <a:off x="6643077" y="3727370"/>
            <a:ext cx="2377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Mit Generics:</a:t>
            </a:r>
          </a:p>
        </p:txBody>
      </p:sp>
    </p:spTree>
    <p:extLst>
      <p:ext uri="{BB962C8B-B14F-4D97-AF65-F5344CB8AC3E}">
        <p14:creationId xmlns:p14="http://schemas.microsoft.com/office/powerpoint/2010/main" val="3768272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DF018-45E9-6C00-11FF-853AFC018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 </a:t>
            </a:r>
            <a:r>
              <a:rPr lang="en-US" dirty="0" err="1"/>
              <a:t>als</a:t>
            </a:r>
            <a:r>
              <a:rPr lang="en-US" dirty="0"/>
              <a:t> Parameter- UND Return-</a:t>
            </a:r>
            <a:r>
              <a:rPr lang="en-US" dirty="0" err="1"/>
              <a:t>Typ</a:t>
            </a:r>
            <a:r>
              <a:rPr lang="en-US" dirty="0"/>
              <a:t> von </a:t>
            </a:r>
            <a:r>
              <a:rPr lang="en-US" dirty="0" err="1"/>
              <a:t>Methoden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D0F7949-A763-F0A2-50DD-CAABF87093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744" y="3694401"/>
            <a:ext cx="6038712" cy="2488053"/>
          </a:xfrm>
          <a:prstGeom prst="rect">
            <a:avLst/>
          </a:prstGeom>
        </p:spPr>
      </p:pic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CBC4EC1-39FE-6255-B62B-776D1E01C8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1084"/>
          <a:stretch>
            <a:fillRect/>
          </a:stretch>
        </p:blipFill>
        <p:spPr>
          <a:xfrm>
            <a:off x="284012" y="2290812"/>
            <a:ext cx="5605194" cy="1080525"/>
          </a:xfrm>
          <a:prstGeom prst="rect">
            <a:avLst/>
          </a:prstGeom>
        </p:spPr>
      </p:pic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E20C8C5-D2AC-C90E-411F-85EA45D7B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999" y="3163599"/>
            <a:ext cx="7101038" cy="11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952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2EA7D-3E9F-864D-EA15-C6C5E4944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</a:t>
            </a:r>
          </a:p>
        </p:txBody>
      </p:sp>
      <p:pic>
        <p:nvPicPr>
          <p:cNvPr id="5" name="Content Placeholder 4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2FBDE3BA-4F41-0E01-F34E-E602166E9B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136" y="4075828"/>
            <a:ext cx="8065734" cy="2214123"/>
          </a:xfrm>
        </p:spPr>
      </p:pic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D6D617D-23F7-979A-EE2A-5F3C04C1C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136" y="2430016"/>
            <a:ext cx="5605194" cy="1369208"/>
          </a:xfrm>
          <a:prstGeom prst="rect">
            <a:avLst/>
          </a:prstGeom>
        </p:spPr>
      </p:pic>
      <p:sp>
        <p:nvSpPr>
          <p:cNvPr id="9" name="Left Arrow 8">
            <a:extLst>
              <a:ext uri="{FF2B5EF4-FFF2-40B4-BE49-F238E27FC236}">
                <a16:creationId xmlns:a16="http://schemas.microsoft.com/office/drawing/2014/main" id="{EEE7855A-6448-9E67-78A4-A2975CC280AE}"/>
              </a:ext>
            </a:extLst>
          </p:cNvPr>
          <p:cNvSpPr/>
          <p:nvPr/>
        </p:nvSpPr>
        <p:spPr>
          <a:xfrm rot="927958">
            <a:off x="4519286" y="3093788"/>
            <a:ext cx="3489434" cy="315310"/>
          </a:xfrm>
          <a:prstGeom prst="lef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EC8039-0EC0-2B70-8739-39CC537F360A}"/>
              </a:ext>
            </a:extLst>
          </p:cNvPr>
          <p:cNvSpPr txBox="1"/>
          <p:nvPr/>
        </p:nvSpPr>
        <p:spPr>
          <a:xfrm>
            <a:off x="8250621" y="3552497"/>
            <a:ext cx="2046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Platzhalter</a:t>
            </a:r>
            <a:endParaRPr lang="en-US" dirty="0"/>
          </a:p>
        </p:txBody>
      </p:sp>
      <p:sp>
        <p:nvSpPr>
          <p:cNvPr id="11" name="Left Arrow 10">
            <a:extLst>
              <a:ext uri="{FF2B5EF4-FFF2-40B4-BE49-F238E27FC236}">
                <a16:creationId xmlns:a16="http://schemas.microsoft.com/office/drawing/2014/main" id="{E74E1D29-B7CC-0B80-EBC6-261CCFF60BEF}"/>
              </a:ext>
            </a:extLst>
          </p:cNvPr>
          <p:cNvSpPr/>
          <p:nvPr/>
        </p:nvSpPr>
        <p:spPr>
          <a:xfrm rot="20851619">
            <a:off x="4298204" y="3883683"/>
            <a:ext cx="3615559" cy="378372"/>
          </a:xfrm>
          <a:prstGeom prst="lef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33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320CE-29E2-A3B5-B80B-DFF843889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Generics-was </a:t>
            </a:r>
            <a:r>
              <a:rPr lang="en-US" dirty="0" err="1"/>
              <a:t>geht</a:t>
            </a:r>
            <a:r>
              <a:rPr lang="en-US" dirty="0"/>
              <a:t> </a:t>
            </a:r>
            <a:r>
              <a:rPr lang="en-US" dirty="0" err="1"/>
              <a:t>noch</a:t>
            </a:r>
            <a:r>
              <a:rPr lang="en-US" dirty="0"/>
              <a:t>?</a:t>
            </a:r>
          </a:p>
        </p:txBody>
      </p:sp>
      <p:pic>
        <p:nvPicPr>
          <p:cNvPr id="5" name="Content Placeholder 4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77F1A641-FBCC-1C7E-4A82-07C3115A94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9090" y="2816503"/>
            <a:ext cx="5593764" cy="214659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E807DE-32C8-85F5-D9F8-203C98301779}"/>
              </a:ext>
            </a:extLst>
          </p:cNvPr>
          <p:cNvSpPr txBox="1"/>
          <p:nvPr/>
        </p:nvSpPr>
        <p:spPr>
          <a:xfrm>
            <a:off x="599090" y="241639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Mehrere</a:t>
            </a:r>
            <a:r>
              <a:rPr lang="en-US" sz="20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Typen</a:t>
            </a:r>
            <a:r>
              <a:rPr lang="en-US" sz="20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dirty="0"/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A051F99-E638-BB74-FCE8-CBA32416C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257" y="4280087"/>
            <a:ext cx="5931557" cy="849004"/>
          </a:xfrm>
          <a:prstGeom prst="rect">
            <a:avLst/>
          </a:prstGeom>
        </p:spPr>
      </p:pic>
      <p:sp>
        <p:nvSpPr>
          <p:cNvPr id="10" name="Left Arrow 9">
            <a:extLst>
              <a:ext uri="{FF2B5EF4-FFF2-40B4-BE49-F238E27FC236}">
                <a16:creationId xmlns:a16="http://schemas.microsoft.com/office/drawing/2014/main" id="{66A5E9D8-E662-BD60-D2D4-B8C953EB7978}"/>
              </a:ext>
            </a:extLst>
          </p:cNvPr>
          <p:cNvSpPr/>
          <p:nvPr/>
        </p:nvSpPr>
        <p:spPr>
          <a:xfrm rot="18657327">
            <a:off x="6606420" y="3535821"/>
            <a:ext cx="1390814" cy="399663"/>
          </a:xfrm>
          <a:prstGeom prst="lef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EB0BCB-D7FD-5613-3DAA-A74AC3BB2665}"/>
              </a:ext>
            </a:extLst>
          </p:cNvPr>
          <p:cNvSpPr txBox="1"/>
          <p:nvPr/>
        </p:nvSpPr>
        <p:spPr>
          <a:xfrm>
            <a:off x="7052441" y="2816503"/>
            <a:ext cx="4540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 </a:t>
            </a:r>
            <a:r>
              <a:rPr lang="en-US" dirty="0" err="1"/>
              <a:t>sieht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HashMap </a:t>
            </a:r>
            <a:r>
              <a:rPr lang="en-US" dirty="0" err="1"/>
              <a:t>aus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43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23DA2-599C-FEE5-A87A-4385BFECB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70797"/>
            <a:ext cx="7729728" cy="1188720"/>
          </a:xfrm>
        </p:spPr>
        <p:txBody>
          <a:bodyPr/>
          <a:lstStyle/>
          <a:p>
            <a:r>
              <a:rPr lang="en-US" dirty="0"/>
              <a:t>Bounded type parameters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B6C96E-7695-E4F1-D2F3-B2E7CEA41A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9149" y="2153474"/>
            <a:ext cx="7152015" cy="2031822"/>
          </a:xfrm>
        </p:spPr>
      </p:pic>
      <p:pic>
        <p:nvPicPr>
          <p:cNvPr id="9" name="Picture 8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27ABC620-8604-3EA7-76E2-1BA866538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136" y="2009490"/>
            <a:ext cx="6822216" cy="311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334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29FFD-7A70-C012-9C85-3A2BB876E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8036D3-B78A-2262-ACF1-C98EC79751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286" y="2356338"/>
            <a:ext cx="8083967" cy="92885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9925CC-1BE1-9945-61DE-BD64BEAE45B6}"/>
              </a:ext>
            </a:extLst>
          </p:cNvPr>
          <p:cNvSpPr txBox="1"/>
          <p:nvPr/>
        </p:nvSpPr>
        <p:spPr>
          <a:xfrm>
            <a:off x="604911" y="3429000"/>
            <a:ext cx="9028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Wollen nicht für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jede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Liste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eine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eigene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Methode -&gt;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anstrengend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C92E9C-CC58-7FB8-E88A-9D6B02CD0EE6}"/>
              </a:ext>
            </a:extLst>
          </p:cNvPr>
          <p:cNvSpPr txBox="1"/>
          <p:nvPr/>
        </p:nvSpPr>
        <p:spPr>
          <a:xfrm>
            <a:off x="322286" y="3971362"/>
            <a:ext cx="2729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Lösung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: Wildcards</a:t>
            </a:r>
          </a:p>
        </p:txBody>
      </p:sp>
      <p:pic>
        <p:nvPicPr>
          <p:cNvPr id="11" name="Picture 10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B941F77A-8899-874A-5F72-536262CD8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834" y="3890665"/>
            <a:ext cx="6146800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693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64C8-7174-363C-CC5A-4F6E0898B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Wildcards </a:t>
            </a:r>
            <a:r>
              <a:rPr lang="en-US" dirty="0" err="1"/>
              <a:t>mit</a:t>
            </a:r>
            <a:r>
              <a:rPr lang="en-US" dirty="0"/>
              <a:t> Bounds</a:t>
            </a:r>
          </a:p>
        </p:txBody>
      </p:sp>
      <p:pic>
        <p:nvPicPr>
          <p:cNvPr id="5" name="Content Placeholder 4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BD37BDC6-46F7-376D-6A01-BB30300852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27622" y="2373816"/>
            <a:ext cx="6852889" cy="1794495"/>
          </a:xfrm>
        </p:spPr>
      </p:pic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63D61CE-0BF0-BADB-71A7-90F3B9D1B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054" y="4851908"/>
            <a:ext cx="7112457" cy="11108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D84334-5BBD-AEA0-DB6D-FAB23109271D}"/>
              </a:ext>
            </a:extLst>
          </p:cNvPr>
          <p:cNvSpPr txBox="1"/>
          <p:nvPr/>
        </p:nvSpPr>
        <p:spPr>
          <a:xfrm>
            <a:off x="450166" y="2469799"/>
            <a:ext cx="2143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Upper bound</a:t>
            </a:r>
            <a:r>
              <a:rPr lang="en-US" dirty="0"/>
              <a:t>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89AD67-4F49-C09B-359C-A94C99E4542B}"/>
              </a:ext>
            </a:extLst>
          </p:cNvPr>
          <p:cNvSpPr txBox="1"/>
          <p:nvPr/>
        </p:nvSpPr>
        <p:spPr>
          <a:xfrm>
            <a:off x="450166" y="4168311"/>
            <a:ext cx="62038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Lower bound:</a:t>
            </a:r>
          </a:p>
        </p:txBody>
      </p:sp>
      <p:pic>
        <p:nvPicPr>
          <p:cNvPr id="14" name="Picture 1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B6E4894-0675-8F3C-FB89-7F5D81A16A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2970"/>
          <a:stretch>
            <a:fillRect/>
          </a:stretch>
        </p:blipFill>
        <p:spPr>
          <a:xfrm>
            <a:off x="204159" y="4851907"/>
            <a:ext cx="4353773" cy="157256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3911B8C-D8D1-E128-41D0-96B88BF165CC}"/>
              </a:ext>
            </a:extLst>
          </p:cNvPr>
          <p:cNvSpPr txBox="1"/>
          <p:nvPr/>
        </p:nvSpPr>
        <p:spPr>
          <a:xfrm>
            <a:off x="5027621" y="5962806"/>
            <a:ext cx="65983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C0F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Werden </a:t>
            </a:r>
            <a:r>
              <a:rPr lang="en-US" sz="2000" dirty="0" err="1">
                <a:solidFill>
                  <a:srgbClr val="FFC0F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beim</a:t>
            </a:r>
            <a:r>
              <a:rPr lang="en-US" sz="2000" dirty="0">
                <a:solidFill>
                  <a:srgbClr val="FFC0F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FFC0F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benutzen</a:t>
            </a:r>
            <a:r>
              <a:rPr lang="en-US" sz="2000" dirty="0">
                <a:solidFill>
                  <a:srgbClr val="FFC0F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von </a:t>
            </a:r>
            <a:r>
              <a:rPr lang="en-US" sz="2000" dirty="0" err="1">
                <a:solidFill>
                  <a:srgbClr val="FFC0F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generischen</a:t>
            </a:r>
            <a:r>
              <a:rPr lang="en-US" sz="2000" dirty="0">
                <a:solidFill>
                  <a:srgbClr val="FFC0F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FFC0F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Typen</a:t>
            </a:r>
            <a:r>
              <a:rPr lang="en-US" sz="2000" dirty="0">
                <a:solidFill>
                  <a:srgbClr val="FFC0F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nicht </a:t>
            </a:r>
            <a:r>
              <a:rPr lang="en-US" sz="2000" dirty="0" err="1">
                <a:solidFill>
                  <a:srgbClr val="FFC0F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beim</a:t>
            </a:r>
            <a:r>
              <a:rPr lang="en-US" sz="2000" dirty="0">
                <a:solidFill>
                  <a:srgbClr val="FFC0F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FFC0F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Definieren</a:t>
            </a:r>
            <a:r>
              <a:rPr lang="en-US" sz="2000" dirty="0">
                <a:solidFill>
                  <a:srgbClr val="FFC0F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rgbClr val="FFC0F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verwendet</a:t>
            </a:r>
            <a:endParaRPr lang="en-US" sz="2000" dirty="0">
              <a:solidFill>
                <a:srgbClr val="FFC0F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733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7ECD1-7A8E-8F63-B0C5-AF2EAAFC5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Generische</a:t>
            </a:r>
            <a:r>
              <a:rPr lang="en-US" dirty="0"/>
              <a:t> </a:t>
            </a:r>
            <a:r>
              <a:rPr lang="en-US" dirty="0" err="1"/>
              <a:t>Methoden</a:t>
            </a:r>
            <a:endParaRPr lang="en-US" dirty="0"/>
          </a:p>
        </p:txBody>
      </p:sp>
      <p:pic>
        <p:nvPicPr>
          <p:cNvPr id="7" name="Picture 6" descr="A computer code with text on it&#10;&#10;AI-generated content may be incorrect.">
            <a:extLst>
              <a:ext uri="{FF2B5EF4-FFF2-40B4-BE49-F238E27FC236}">
                <a16:creationId xmlns:a16="http://schemas.microsoft.com/office/drawing/2014/main" id="{E93D7F04-389A-17C8-B649-EA17AE4B7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17" y="2324784"/>
            <a:ext cx="6400800" cy="1765300"/>
          </a:xfrm>
          <a:prstGeom prst="rect">
            <a:avLst/>
          </a:prstGeom>
        </p:spPr>
      </p:pic>
      <p:sp>
        <p:nvSpPr>
          <p:cNvPr id="10" name="Left Arrow 9">
            <a:extLst>
              <a:ext uri="{FF2B5EF4-FFF2-40B4-BE49-F238E27FC236}">
                <a16:creationId xmlns:a16="http://schemas.microsoft.com/office/drawing/2014/main" id="{7FFB7373-FD2E-AED4-E36E-9756AEE218C3}"/>
              </a:ext>
            </a:extLst>
          </p:cNvPr>
          <p:cNvSpPr/>
          <p:nvPr/>
        </p:nvSpPr>
        <p:spPr>
          <a:xfrm>
            <a:off x="1603716" y="2324784"/>
            <a:ext cx="4712677" cy="379828"/>
          </a:xfrm>
          <a:prstGeom prst="lef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0F3E0A-9F57-F9A1-7E1A-6831A1431B1B}"/>
              </a:ext>
            </a:extLst>
          </p:cNvPr>
          <p:cNvSpPr txBox="1"/>
          <p:nvPr/>
        </p:nvSpPr>
        <p:spPr>
          <a:xfrm>
            <a:off x="6598216" y="2413337"/>
            <a:ext cx="39900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Class nicht, </a:t>
            </a:r>
            <a:r>
              <a:rPr lang="en-US" sz="2000" dirty="0" err="1"/>
              <a:t>nur</a:t>
            </a:r>
            <a:r>
              <a:rPr lang="en-US" sz="2000" dirty="0"/>
              <a:t> Methode </a:t>
            </a:r>
            <a:r>
              <a:rPr lang="en-US" sz="2000" dirty="0" err="1"/>
              <a:t>ist</a:t>
            </a:r>
            <a:r>
              <a:rPr lang="en-US" sz="2000" dirty="0"/>
              <a:t> </a:t>
            </a:r>
            <a:r>
              <a:rPr lang="en-US" sz="2000" dirty="0" err="1"/>
              <a:t>generisch</a:t>
            </a:r>
            <a:endParaRPr lang="en-US" sz="2000" dirty="0"/>
          </a:p>
        </p:txBody>
      </p:sp>
      <p:pic>
        <p:nvPicPr>
          <p:cNvPr id="13" name="Picture 12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53CBE212-7DC4-2145-E101-C79591AE1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274" y="4350009"/>
            <a:ext cx="7924238" cy="196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137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91EE92F-BE8D-92E3-701C-EA19A11F9B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1300" y="3872567"/>
            <a:ext cx="5431367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Ersetzen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Sie die Klassen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IntElement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und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StringElement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durch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eine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einzige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generische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Klasse</a:t>
            </a:r>
            <a:b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Element&lt;T&gt;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Klasse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soll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die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gleiche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Anzahl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Attributen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und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Methoden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besitzen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Funktionalität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soll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identisch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sein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Die Klasse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soll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unten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gezeigt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verwendbar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sein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computer screen shot of code&#10;&#10;AI-generated content may be incorrect.">
            <a:extLst>
              <a:ext uri="{FF2B5EF4-FFF2-40B4-BE49-F238E27FC236}">
                <a16:creationId xmlns:a16="http://schemas.microsoft.com/office/drawing/2014/main" id="{93DCAA27-49E1-5460-92C1-792A09401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667" y="136528"/>
            <a:ext cx="4995333" cy="4102258"/>
          </a:xfrm>
          <a:prstGeom prst="rect">
            <a:avLst/>
          </a:prstGeom>
        </p:spPr>
      </p:pic>
      <p:pic>
        <p:nvPicPr>
          <p:cNvPr id="8" name="Picture 7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705848DF-19F9-6962-BD8F-96B3350D9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703" y="156355"/>
            <a:ext cx="4321830" cy="3817158"/>
          </a:xfrm>
          <a:prstGeom prst="rect">
            <a:avLst/>
          </a:prstGeom>
        </p:spPr>
      </p:pic>
      <p:pic>
        <p:nvPicPr>
          <p:cNvPr id="10" name="Picture 9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93EC72C-B57F-6936-8D59-424B5FF92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533" y="4336128"/>
            <a:ext cx="5596467" cy="236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751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665FB-232A-D11D-0972-2AA213838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4FB060-C767-53C0-4CC8-962B19047C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7905" y="2508159"/>
            <a:ext cx="444663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Fehler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führen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in Java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zu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Exceptions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06539D-7FAA-6CAC-5797-85869416093D}"/>
              </a:ext>
            </a:extLst>
          </p:cNvPr>
          <p:cNvSpPr txBox="1"/>
          <p:nvPr/>
        </p:nvSpPr>
        <p:spPr>
          <a:xfrm>
            <a:off x="7030611" y="481713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737C"/>
                </a:solidFill>
              </a:rPr>
              <a:t>int[] s = new int[3];</a:t>
            </a:r>
          </a:p>
          <a:p>
            <a:r>
              <a:rPr lang="en-US" dirty="0">
                <a:solidFill>
                  <a:srgbClr val="FF737C"/>
                </a:solidFill>
              </a:rPr>
              <a:t>s[7] = 1;   </a:t>
            </a:r>
            <a:r>
              <a:rPr lang="en-US" dirty="0"/>
              <a:t>// </a:t>
            </a:r>
            <a:r>
              <a:rPr lang="en-US" dirty="0" err="1"/>
              <a:t>ArrayIndexOutOfBoundsException</a:t>
            </a:r>
            <a:endParaRPr lang="en-US" dirty="0"/>
          </a:p>
          <a:p>
            <a:r>
              <a:rPr lang="en-US" dirty="0">
                <a:solidFill>
                  <a:srgbClr val="FF737C"/>
                </a:solidFill>
              </a:rPr>
              <a:t>s[-1] = 1;  </a:t>
            </a:r>
            <a:r>
              <a:rPr lang="en-US" dirty="0"/>
              <a:t>// </a:t>
            </a:r>
            <a:r>
              <a:rPr lang="en-US" dirty="0" err="1"/>
              <a:t>ArrayIndexOutOfBoundsException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798BA7-F44D-046C-9770-C4F8A0BF952C}"/>
              </a:ext>
            </a:extLst>
          </p:cNvPr>
          <p:cNvSpPr txBox="1"/>
          <p:nvPr/>
        </p:nvSpPr>
        <p:spPr>
          <a:xfrm>
            <a:off x="7030611" y="3831598"/>
            <a:ext cx="81320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Person p = null;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p.toString</a:t>
            </a:r>
            <a:r>
              <a:rPr lang="en-US" altLang="en-US" sz="1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(); </a:t>
            </a:r>
            <a:r>
              <a:rPr lang="en-US" alt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en-US" altLang="en-US" sz="1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NullPointerException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01F19F-9C16-13C9-1816-970B9C35D2FB}"/>
              </a:ext>
            </a:extLst>
          </p:cNvPr>
          <p:cNvSpPr txBox="1"/>
          <p:nvPr/>
        </p:nvSpPr>
        <p:spPr>
          <a:xfrm>
            <a:off x="7030611" y="3105834"/>
            <a:ext cx="4223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Double d = </a:t>
            </a:r>
            <a:r>
              <a:rPr lang="en-US" altLang="en-US" sz="18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Double.parseDouble</a:t>
            </a:r>
            <a:r>
              <a:rPr lang="en-US" altLang="en-US" sz="18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("Hello"); </a:t>
            </a:r>
            <a:r>
              <a:rPr lang="en-US" alt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en-US" altLang="en-US" sz="1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NumberFormatException</a:t>
            </a:r>
            <a:endParaRPr lang="en-US" altLang="en-US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4050A9-1123-6953-F5B8-39C0E5AA7819}"/>
              </a:ext>
            </a:extLst>
          </p:cNvPr>
          <p:cNvSpPr txBox="1"/>
          <p:nvPr/>
        </p:nvSpPr>
        <p:spPr>
          <a:xfrm>
            <a:off x="7030611" y="2512120"/>
            <a:ext cx="62851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 x = 5 / 0; </a:t>
            </a:r>
            <a:r>
              <a:rPr lang="en-US" altLang="en-US" sz="1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// </a:t>
            </a:r>
            <a:r>
              <a:rPr lang="en-US" altLang="en-US" sz="1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ArithmeticException</a:t>
            </a:r>
            <a:endParaRPr lang="en-US" altLang="en-US" sz="1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FB1F64-34D2-ED17-FE97-BC63B32CB35A}"/>
              </a:ext>
            </a:extLst>
          </p:cNvPr>
          <p:cNvSpPr txBox="1"/>
          <p:nvPr/>
        </p:nvSpPr>
        <p:spPr>
          <a:xfrm>
            <a:off x="137160" y="3979196"/>
            <a:ext cx="657312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Datei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existiert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nicht → </a:t>
            </a:r>
            <a:r>
              <a:rPr lang="en-US" altLang="en-US" sz="2000" dirty="0" err="1">
                <a:solidFill>
                  <a:srgbClr val="FFC0F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FileNotFoundException</a:t>
            </a:r>
            <a:endParaRPr lang="en-US" altLang="en-US" sz="2000" dirty="0">
              <a:solidFill>
                <a:srgbClr val="FFC0F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Server offline → </a:t>
            </a:r>
            <a:r>
              <a:rPr lang="en-US" altLang="en-US" sz="2000" dirty="0">
                <a:solidFill>
                  <a:srgbClr val="FFC0F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oft </a:t>
            </a:r>
            <a:r>
              <a:rPr lang="en-US" altLang="en-US" sz="2000" dirty="0" err="1">
                <a:solidFill>
                  <a:srgbClr val="FFC0F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IOException</a:t>
            </a:r>
            <a:r>
              <a:rPr lang="en-US" altLang="en-US" sz="2000" dirty="0">
                <a:solidFill>
                  <a:srgbClr val="FFC0F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altLang="en-US" sz="2000" dirty="0" err="1">
                <a:solidFill>
                  <a:srgbClr val="FFC0F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ConnectException</a:t>
            </a:r>
            <a:r>
              <a:rPr lang="en-US" altLang="en-US" sz="2000" dirty="0">
                <a:solidFill>
                  <a:srgbClr val="FFC0F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(</a:t>
            </a:r>
            <a:r>
              <a:rPr lang="en-US" altLang="en-US" sz="2000" dirty="0" err="1">
                <a:solidFill>
                  <a:srgbClr val="FFC0F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Unterklasse</a:t>
            </a:r>
            <a:r>
              <a:rPr lang="en-US" altLang="en-US" sz="2000" dirty="0">
                <a:solidFill>
                  <a:srgbClr val="FFC0F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b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000" dirty="0" err="1">
                <a:solidFill>
                  <a:srgbClr val="FF73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Wichtig</a:t>
            </a:r>
            <a:r>
              <a:rPr lang="en-US" altLang="en-US" sz="2000" dirty="0">
                <a:solidFill>
                  <a:srgbClr val="FF73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Das </a:t>
            </a:r>
            <a:r>
              <a:rPr lang="en-US" altLang="en-US" sz="2000" dirty="0" err="1">
                <a:solidFill>
                  <a:srgbClr val="FF73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sind</a:t>
            </a:r>
            <a:r>
              <a:rPr lang="en-US" altLang="en-US" sz="2000" dirty="0">
                <a:solidFill>
                  <a:srgbClr val="FF73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dirty="0" err="1">
                <a:solidFill>
                  <a:srgbClr val="FF73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eher</a:t>
            </a:r>
            <a:r>
              <a:rPr lang="en-US" altLang="en-US" sz="2000" dirty="0">
                <a:solidFill>
                  <a:srgbClr val="FF73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„Real-World“-Fehler, die man </a:t>
            </a:r>
            <a:r>
              <a:rPr lang="en-US" altLang="en-US" sz="2000" dirty="0" err="1">
                <a:solidFill>
                  <a:srgbClr val="FF73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sauber</a:t>
            </a:r>
            <a:r>
              <a:rPr lang="en-US" altLang="en-US" sz="2000" dirty="0">
                <a:solidFill>
                  <a:srgbClr val="FF73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dirty="0" err="1">
                <a:solidFill>
                  <a:srgbClr val="FF73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behandeln</a:t>
            </a:r>
            <a:r>
              <a:rPr lang="en-US" altLang="en-US" sz="2000" dirty="0">
                <a:solidFill>
                  <a:srgbClr val="FF737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muss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FF737C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552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42F8D-FDFD-3AA4-0C4B-FFE4F030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Wie </a:t>
            </a:r>
            <a:r>
              <a:rPr lang="en-US" dirty="0" err="1"/>
              <a:t>gehen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damit</a:t>
            </a:r>
            <a:r>
              <a:rPr lang="en-US" dirty="0"/>
              <a:t> um?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4B1EEE-F37C-9C58-2E92-2671581D8F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314580"/>
            <a:ext cx="7729728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C0F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1) Best option: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FFC0F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verhindern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C0F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(prevention)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2ECEE72-F8CB-C665-BD18-3FB1CE49B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773" y="2298570"/>
            <a:ext cx="7772400" cy="138623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FC8A6F5F-0A3A-D466-3538-D8890BEC0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76075"/>
            <a:ext cx="347472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C0F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2) Middle option: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FFC0F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erkennen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C0F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FFC0F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abfedern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C0F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(exception handling)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→ try-catch </a:t>
            </a:r>
          </a:p>
        </p:txBody>
      </p:sp>
      <p:pic>
        <p:nvPicPr>
          <p:cNvPr id="9" name="Picture 8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440EBBE5-B492-C300-F9A2-5D5266757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773" y="3986958"/>
            <a:ext cx="70612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344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1462F-A0BD-B7B7-F1ED-B1A3CBB05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pic>
        <p:nvPicPr>
          <p:cNvPr id="4" name="Content Placeholder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7798ED25-17EE-1C88-0551-4E5D37C5E4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5432" y="2988329"/>
            <a:ext cx="6596408" cy="24840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497E76-D1BD-659A-F849-95CC091FB24B}"/>
              </a:ext>
            </a:extLst>
          </p:cNvPr>
          <p:cNvSpPr txBox="1"/>
          <p:nvPr/>
        </p:nvSpPr>
        <p:spPr>
          <a:xfrm>
            <a:off x="720160" y="3179299"/>
            <a:ext cx="37218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Welcher catch Block </a:t>
            </a:r>
            <a:r>
              <a:rPr lang="en-US" sz="24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wird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hier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ausgeführt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DFBD32-B731-0A4D-8158-3DB140F4DB72}"/>
              </a:ext>
            </a:extLst>
          </p:cNvPr>
          <p:cNvSpPr txBox="1"/>
          <p:nvPr/>
        </p:nvSpPr>
        <p:spPr>
          <a:xfrm>
            <a:off x="886265" y="4754880"/>
            <a:ext cx="2757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737C"/>
                </a:solidFill>
              </a:rPr>
              <a:t>“</a:t>
            </a:r>
            <a:r>
              <a:rPr lang="en-US" dirty="0" err="1">
                <a:solidFill>
                  <a:srgbClr val="FF737C"/>
                </a:solidFill>
              </a:rPr>
              <a:t>keine</a:t>
            </a:r>
            <a:r>
              <a:rPr lang="en-US" dirty="0">
                <a:solidFill>
                  <a:srgbClr val="FF737C"/>
                </a:solidFill>
              </a:rPr>
              <a:t> Zahl!”</a:t>
            </a:r>
          </a:p>
        </p:txBody>
      </p:sp>
    </p:spTree>
    <p:extLst>
      <p:ext uri="{BB962C8B-B14F-4D97-AF65-F5344CB8AC3E}">
        <p14:creationId xmlns:p14="http://schemas.microsoft.com/office/powerpoint/2010/main" val="2636438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90C14-BFA6-47D5-EA74-E8ADDF7EF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623DC5-71FE-1B0D-1244-B1A7BA65B7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9794" y="2446281"/>
            <a:ext cx="3679469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FFC0F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Ohne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C0F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Failure: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try-Block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komplett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ausführen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catch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überspringen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nach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catch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weiter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CBF3B8C-398B-D64C-C7DF-66BA029A0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794" y="4339588"/>
            <a:ext cx="3397148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C0F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Mit Failure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try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läuft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bis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zur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Fehlerzeile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sofort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Sprung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 catch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catch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ausführen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danach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weiter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862EDC77-68AD-CC1D-BF36-103333400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172" y="2770369"/>
            <a:ext cx="7061200" cy="2552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B055A9-FA3E-D979-30D7-05F13248DD10}"/>
              </a:ext>
            </a:extLst>
          </p:cNvPr>
          <p:cNvSpPr txBox="1"/>
          <p:nvPr/>
        </p:nvSpPr>
        <p:spPr>
          <a:xfrm>
            <a:off x="5036233" y="5753686"/>
            <a:ext cx="6274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Was </a:t>
            </a:r>
            <a:r>
              <a:rPr lang="en-US" sz="28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würde</a:t>
            </a:r>
            <a:r>
              <a:rPr lang="en-US" sz="2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ausgegeben</a:t>
            </a:r>
            <a:r>
              <a:rPr lang="en-US" sz="2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werden</a:t>
            </a:r>
            <a:r>
              <a:rPr lang="en-US" sz="2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62449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build="p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47D81-926C-2635-F956-5B1991843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finally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973F66-6599-5207-09E3-3155AB3035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82890" y="2462001"/>
            <a:ext cx="702621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finally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wird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(fast) immer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ausgeführt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, egal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ob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Exception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oder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nicht.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F937627E-FB0F-BB54-B484-FEF33AFA4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664" y="3158950"/>
            <a:ext cx="4902200" cy="3302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B751DD-CFAE-0320-C82A-3247E888B3A4}"/>
              </a:ext>
            </a:extLst>
          </p:cNvPr>
          <p:cNvSpPr txBox="1"/>
          <p:nvPr/>
        </p:nvSpPr>
        <p:spPr>
          <a:xfrm>
            <a:off x="416404" y="3903816"/>
            <a:ext cx="19413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</a:t>
            </a:r>
          </a:p>
        </p:txBody>
      </p:sp>
      <p:pic>
        <p:nvPicPr>
          <p:cNvPr id="13" name="Picture 1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53715389-6F56-5C64-AAB9-196B95232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664" y="3259475"/>
            <a:ext cx="5265475" cy="31009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1FD2CCA-CE0C-F034-BDC2-18A4AA661E01}"/>
              </a:ext>
            </a:extLst>
          </p:cNvPr>
          <p:cNvSpPr txBox="1"/>
          <p:nvPr/>
        </p:nvSpPr>
        <p:spPr>
          <a:xfrm>
            <a:off x="1645920" y="4149969"/>
            <a:ext cx="1153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89952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60D51-82C5-ED38-4C86-6CF5B0B40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810F9-84F8-DB34-CD8D-03256ADD8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404" y="2791325"/>
            <a:ext cx="7729728" cy="3101983"/>
          </a:xfr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Hier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wird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finally nicht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ausgeführt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System.exit</a:t>
            </a:r>
            <a:r>
              <a:rPr lang="en-US" altLang="en-US"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(...):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beendet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die </a:t>
            </a: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JVM </a:t>
            </a:r>
            <a:r>
              <a:rPr lang="en-US" altLang="en-US" sz="20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sofort</a:t>
            </a:r>
            <a:endParaRPr lang="en-US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pic>
        <p:nvPicPr>
          <p:cNvPr id="4" name="Picture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F817EE3B-4A31-56E5-1A2F-4BB6D00F2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902" y="3297671"/>
            <a:ext cx="5599392" cy="259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719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28D56A-0FB9-E9D6-6385-9A2069C94D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044417"/>
              </p:ext>
            </p:extLst>
          </p:nvPr>
        </p:nvGraphicFramePr>
        <p:xfrm>
          <a:off x="587828" y="264405"/>
          <a:ext cx="10940142" cy="6819089"/>
        </p:xfrm>
        <a:graphic>
          <a:graphicData uri="http://schemas.openxmlformats.org/drawingml/2006/table">
            <a:tbl>
              <a:tblPr/>
              <a:tblGrid>
                <a:gridCol w="3646714">
                  <a:extLst>
                    <a:ext uri="{9D8B030D-6E8A-4147-A177-3AD203B41FA5}">
                      <a16:colId xmlns:a16="http://schemas.microsoft.com/office/drawing/2014/main" val="2198696893"/>
                    </a:ext>
                  </a:extLst>
                </a:gridCol>
                <a:gridCol w="3646714">
                  <a:extLst>
                    <a:ext uri="{9D8B030D-6E8A-4147-A177-3AD203B41FA5}">
                      <a16:colId xmlns:a16="http://schemas.microsoft.com/office/drawing/2014/main" val="4009675853"/>
                    </a:ext>
                  </a:extLst>
                </a:gridCol>
                <a:gridCol w="3646714">
                  <a:extLst>
                    <a:ext uri="{9D8B030D-6E8A-4147-A177-3AD203B41FA5}">
                      <a16:colId xmlns:a16="http://schemas.microsoft.com/office/drawing/2014/main" val="2402115834"/>
                    </a:ext>
                  </a:extLst>
                </a:gridCol>
              </a:tblGrid>
              <a:tr h="518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Merkmal</a:t>
                      </a:r>
                    </a:p>
                  </a:txBody>
                  <a:tcPr marL="55392" marR="55392" marT="27696" marB="276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/>
                        <a:t>Checked Exception(</a:t>
                      </a:r>
                      <a:r>
                        <a:rPr lang="en-US" sz="2400" b="0" dirty="0" err="1"/>
                        <a:t>Unterklasse</a:t>
                      </a:r>
                      <a:r>
                        <a:rPr lang="en-US" sz="2400" b="0" dirty="0"/>
                        <a:t> von </a:t>
                      </a:r>
                      <a:r>
                        <a:rPr lang="en-US" sz="2400" b="0" dirty="0" err="1"/>
                        <a:t>RuntimeException</a:t>
                      </a:r>
                      <a:r>
                        <a:rPr lang="en-US" sz="2400" b="0" dirty="0"/>
                        <a:t>)</a:t>
                      </a:r>
                    </a:p>
                  </a:txBody>
                  <a:tcPr marL="55392" marR="55392" marT="27696" marB="276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/>
                        <a:t>Unchecked Exception(</a:t>
                      </a:r>
                      <a:r>
                        <a:rPr lang="en-US" sz="2400" b="0" dirty="0" err="1"/>
                        <a:t>Unterklasse</a:t>
                      </a:r>
                      <a:r>
                        <a:rPr lang="en-US" sz="2400" b="0" dirty="0"/>
                        <a:t> von Exception)</a:t>
                      </a:r>
                    </a:p>
                  </a:txBody>
                  <a:tcPr marL="55392" marR="55392" marT="27696" marB="276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814985"/>
                  </a:ext>
                </a:extLst>
              </a:tr>
              <a:tr h="826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Compiler </a:t>
                      </a:r>
                      <a:r>
                        <a:rPr lang="en-US" sz="2000" b="0" dirty="0" err="1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zwingt</a:t>
                      </a:r>
                      <a:r>
                        <a:rPr lang="en-US" sz="2000" b="0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Behandlung</a:t>
                      </a:r>
                      <a:r>
                        <a:rPr lang="en-US" sz="2000" b="0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?</a:t>
                      </a:r>
                    </a:p>
                  </a:txBody>
                  <a:tcPr marL="55392" marR="55392" marT="27696" marB="276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Ja</a:t>
                      </a:r>
                    </a:p>
                  </a:txBody>
                  <a:tcPr marL="55392" marR="55392" marT="27696" marB="276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solidFill>
                            <a:srgbClr val="FF737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Nein</a:t>
                      </a:r>
                    </a:p>
                  </a:txBody>
                  <a:tcPr marL="55392" marR="55392" marT="27696" marB="276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9696792"/>
                  </a:ext>
                </a:extLst>
              </a:tr>
              <a:tr h="826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Muss in try-catch oder throws?</a:t>
                      </a:r>
                    </a:p>
                  </a:txBody>
                  <a:tcPr marL="55392" marR="55392" marT="27696" marB="276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ja</a:t>
                      </a:r>
                    </a:p>
                  </a:txBody>
                  <a:tcPr marL="55392" marR="55392" marT="27696" marB="276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solidFill>
                            <a:srgbClr val="FF737C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Nein</a:t>
                      </a:r>
                    </a:p>
                  </a:txBody>
                  <a:tcPr marL="55392" marR="55392" marT="27696" marB="276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465278"/>
                  </a:ext>
                </a:extLst>
              </a:tr>
              <a:tr h="826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Typische Ursache</a:t>
                      </a:r>
                    </a:p>
                  </a:txBody>
                  <a:tcPr marL="55392" marR="55392" marT="27696" marB="276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Externe / </a:t>
                      </a:r>
                      <a:r>
                        <a:rPr lang="en-US" sz="2000" b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erwartbare</a:t>
                      </a:r>
                      <a:r>
                        <a:rPr lang="en-US" sz="2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000" b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Probleme</a:t>
                      </a:r>
                      <a:endParaRPr lang="en-US" sz="20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5392" marR="55392" marT="27696" marB="276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Programmierfehler</a:t>
                      </a:r>
                    </a:p>
                  </a:txBody>
                  <a:tcPr marL="55392" marR="55392" marT="27696" marB="276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394031"/>
                  </a:ext>
                </a:extLst>
              </a:tr>
              <a:tr h="15353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Beispielklassen</a:t>
                      </a:r>
                    </a:p>
                  </a:txBody>
                  <a:tcPr marL="55392" marR="55392" marT="27696" marB="276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IOExceptionFileNotFoundException</a:t>
                      </a:r>
                      <a:endParaRPr lang="en-US" sz="20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5392" marR="55392" marT="27696" marB="276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NullPointerExceptionIllegalArgumentExceptionArithmeticException</a:t>
                      </a:r>
                    </a:p>
                  </a:txBody>
                  <a:tcPr marL="55392" marR="55392" marT="27696" marB="276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1283032"/>
                  </a:ext>
                </a:extLst>
              </a:tr>
              <a:tr h="826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Soll man sie catchen?</a:t>
                      </a:r>
                    </a:p>
                  </a:txBody>
                  <a:tcPr marL="55392" marR="55392" marT="27696" marB="276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Meist ja</a:t>
                      </a:r>
                    </a:p>
                  </a:txBody>
                  <a:tcPr marL="55392" marR="55392" marT="27696" marB="276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Meist nein, Ursache beheben</a:t>
                      </a:r>
                    </a:p>
                  </a:txBody>
                  <a:tcPr marL="55392" marR="55392" marT="27696" marB="276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6339370"/>
                  </a:ext>
                </a:extLst>
              </a:tr>
              <a:tr h="826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 err="1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Klausur-Merksatz</a:t>
                      </a:r>
                      <a:endParaRPr lang="en-US" sz="2000" b="0" dirty="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5392" marR="55392" marT="27696" marB="276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„Der Compiler </a:t>
                      </a:r>
                      <a:r>
                        <a:rPr lang="en-US" sz="2000" b="0" i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zwingt</a:t>
                      </a:r>
                      <a:r>
                        <a:rPr lang="en-US" sz="2000" b="0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dich“</a:t>
                      </a:r>
                      <a:endParaRPr lang="en-US" sz="20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5392" marR="55392" marT="27696" marB="276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„</a:t>
                      </a:r>
                      <a:r>
                        <a:rPr lang="en-US" sz="2000" b="0" i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Läuft</a:t>
                      </a:r>
                      <a:r>
                        <a:rPr lang="en-US" sz="2000" b="0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bis es </a:t>
                      </a:r>
                      <a:r>
                        <a:rPr lang="en-US" sz="2000" b="0" i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knallt</a:t>
                      </a:r>
                      <a:r>
                        <a:rPr lang="en-US" sz="2000" b="0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“</a:t>
                      </a:r>
                      <a:endParaRPr lang="en-US" sz="20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5392" marR="55392" marT="27696" marB="276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056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20142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B2623-7324-B4A7-66BA-FA84DC9C9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39D6E-13F6-D0D7-E0A4-1D66E353B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catch (Exception e) {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System.out.println</a:t>
            </a:r>
            <a:r>
              <a:rPr lang="en-US" sz="2400" dirty="0"/>
              <a:t>(</a:t>
            </a:r>
            <a:r>
              <a:rPr lang="en-US" sz="24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e.getMessage</a:t>
            </a: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()); 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r>
              <a:rPr lang="en-US" sz="2400" dirty="0"/>
              <a:t>catch (Exception e) {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e.printStackTrace</a:t>
            </a: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();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370577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4A2B-DFC5-9F63-FE3B-99AD1F38F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Throws - </a:t>
            </a:r>
            <a:r>
              <a:rPr lang="en-US" dirty="0" err="1"/>
              <a:t>weiterreichen</a:t>
            </a:r>
            <a:r>
              <a:rPr lang="en-US" dirty="0"/>
              <a:t> </a:t>
            </a:r>
            <a:r>
              <a:rPr lang="en-US" dirty="0" err="1"/>
              <a:t>statt</a:t>
            </a:r>
            <a:r>
              <a:rPr lang="en-US" dirty="0"/>
              <a:t> </a:t>
            </a:r>
            <a:r>
              <a:rPr lang="en-US" dirty="0" err="1"/>
              <a:t>behandeln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2132A-6A7E-BC00-6EFF-F99CD63C8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static void load() </a:t>
            </a:r>
            <a:r>
              <a:rPr lang="en-US" sz="2400" dirty="0">
                <a:solidFill>
                  <a:srgbClr val="FF737C"/>
                </a:solidFill>
              </a:rPr>
              <a:t>throws </a:t>
            </a:r>
            <a:r>
              <a:rPr lang="en-US" sz="2400" dirty="0" err="1">
                <a:solidFill>
                  <a:srgbClr val="FF737C"/>
                </a:solidFill>
              </a:rPr>
              <a:t>FileNotFoundException</a:t>
            </a:r>
            <a:r>
              <a:rPr lang="en-US" sz="2400" dirty="0">
                <a:solidFill>
                  <a:srgbClr val="FF737C"/>
                </a:solidFill>
              </a:rPr>
              <a:t> </a:t>
            </a:r>
            <a:r>
              <a:rPr lang="en-US" sz="2400" dirty="0"/>
              <a:t>{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readConfigData</a:t>
            </a:r>
            <a:r>
              <a:rPr lang="en-US" sz="2400" dirty="0"/>
              <a:t>("</a:t>
            </a:r>
            <a:r>
              <a:rPr lang="en-US" sz="2400" dirty="0" err="1"/>
              <a:t>x.txt</a:t>
            </a:r>
            <a:r>
              <a:rPr lang="en-US" sz="2400" dirty="0"/>
              <a:t>");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endParaRPr 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itchFamily="2" charset="2"/>
              <a:buChar char="è"/>
            </a:pPr>
            <a:r>
              <a:rPr lang="en-US" altLang="en-US" sz="2000" b="1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Konsequenz</a:t>
            </a:r>
            <a:r>
              <a:rPr lang="en-US" alt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altLang="en-US" sz="20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altLang="en-US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Wer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altLang="en-US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readConfigData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(...) </a:t>
            </a:r>
            <a:r>
              <a:rPr lang="en-US" altLang="en-US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aufruft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muss </a:t>
            </a:r>
            <a:r>
              <a:rPr lang="en-US" altLang="en-US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dann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entweder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itchFamily="2" charset="2"/>
              <a:buChar char="è"/>
            </a:pP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try-catch </a:t>
            </a:r>
            <a:r>
              <a:rPr lang="en-US" altLang="en-US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machen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altLang="en-US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oder</a:t>
            </a:r>
            <a:endParaRPr lang="en-US" alt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itchFamily="2" charset="2"/>
              <a:buChar char="è"/>
            </a:pPr>
            <a:r>
              <a:rPr lang="en-US" altLang="en-US" sz="20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altLang="en-US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elbst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throws </a:t>
            </a:r>
            <a:r>
              <a:rPr lang="en-US" altLang="en-US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FileNotFoundException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in die </a:t>
            </a:r>
            <a:r>
              <a:rPr lang="en-US" altLang="en-US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Signatur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schreiben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6881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BF79-9E18-876B-758F-CCA089D17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– Code </a:t>
            </a:r>
            <a:r>
              <a:rPr lang="en-US" dirty="0" err="1"/>
              <a:t>kommt</a:t>
            </a:r>
            <a:r>
              <a:rPr lang="en-US" dirty="0"/>
              <a:t> </a:t>
            </a:r>
            <a:r>
              <a:rPr lang="en-US" dirty="0" err="1"/>
              <a:t>später</a:t>
            </a:r>
            <a:endParaRPr lang="en-US" dirty="0"/>
          </a:p>
        </p:txBody>
      </p:sp>
      <p:pic>
        <p:nvPicPr>
          <p:cNvPr id="5" name="Content Placeholder 4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24EC03EC-2ACE-BBDA-FF1A-AA7574927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45013" y="2638425"/>
            <a:ext cx="3101975" cy="3101975"/>
          </a:xfrm>
        </p:spPr>
      </p:pic>
    </p:spTree>
    <p:extLst>
      <p:ext uri="{BB962C8B-B14F-4D97-AF65-F5344CB8AC3E}">
        <p14:creationId xmlns:p14="http://schemas.microsoft.com/office/powerpoint/2010/main" val="292792825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985</TotalTime>
  <Words>494</Words>
  <Application>Microsoft Macintosh PowerPoint</Application>
  <PresentationFormat>Widescreen</PresentationFormat>
  <Paragraphs>112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Gill Sans MT</vt:lpstr>
      <vt:lpstr>Wingdings</vt:lpstr>
      <vt:lpstr>Parcel</vt:lpstr>
      <vt:lpstr>Tutorial12</vt:lpstr>
      <vt:lpstr>Klausur anmelden </vt:lpstr>
      <vt:lpstr>Generics</vt:lpstr>
      <vt:lpstr>PowerPoint Presentation</vt:lpstr>
      <vt:lpstr>Generics</vt:lpstr>
      <vt:lpstr>Generics</vt:lpstr>
      <vt:lpstr>T als Parameter- UND Return-Typ von Methoden</vt:lpstr>
      <vt:lpstr>Generics</vt:lpstr>
      <vt:lpstr>Generics-was geht noch?</vt:lpstr>
      <vt:lpstr>Bounded type parameters</vt:lpstr>
      <vt:lpstr>Generics</vt:lpstr>
      <vt:lpstr>Wildcards mit Bounds</vt:lpstr>
      <vt:lpstr>Generische Methoden</vt:lpstr>
      <vt:lpstr>PowerPoint Presentation</vt:lpstr>
      <vt:lpstr>Exceptions</vt:lpstr>
      <vt:lpstr>Wie gehen wir damit um?</vt:lpstr>
      <vt:lpstr>Exceptions</vt:lpstr>
      <vt:lpstr>Exceptions</vt:lpstr>
      <vt:lpstr>finally</vt:lpstr>
      <vt:lpstr>finally</vt:lpstr>
      <vt:lpstr>PowerPoint Presentation</vt:lpstr>
      <vt:lpstr>handling</vt:lpstr>
      <vt:lpstr>Throws - weiterreichen statt behandeln</vt:lpstr>
      <vt:lpstr>GitHUb – Code kommt später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17604601235325742515273410334</dc:creator>
  <cp:lastModifiedBy>TU-Pseudonym 17604601235325742515273410334</cp:lastModifiedBy>
  <cp:revision>2</cp:revision>
  <dcterms:created xsi:type="dcterms:W3CDTF">2026-01-19T18:07:44Z</dcterms:created>
  <dcterms:modified xsi:type="dcterms:W3CDTF">2026-01-20T14:55:19Z</dcterms:modified>
</cp:coreProperties>
</file>