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4"/>
  </p:notesMasterIdLst>
  <p:sldIdLst>
    <p:sldId id="256" r:id="rId2"/>
    <p:sldId id="257" r:id="rId3"/>
    <p:sldId id="326" r:id="rId4"/>
    <p:sldId id="327" r:id="rId5"/>
    <p:sldId id="293" r:id="rId6"/>
    <p:sldId id="294" r:id="rId7"/>
    <p:sldId id="32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298" r:id="rId25"/>
    <p:sldId id="301" r:id="rId26"/>
    <p:sldId id="299" r:id="rId27"/>
    <p:sldId id="300" r:id="rId28"/>
    <p:sldId id="325" r:id="rId29"/>
    <p:sldId id="308" r:id="rId30"/>
    <p:sldId id="295" r:id="rId31"/>
    <p:sldId id="329" r:id="rId32"/>
    <p:sldId id="27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5E3C26-02E6-B248-91F7-6E3F817E9464}" v="151" dt="2026-02-03T10:19:01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88"/>
    <p:restoredTop sz="94570"/>
  </p:normalViewPr>
  <p:slideViewPr>
    <p:cSldViewPr snapToGrid="0">
      <p:cViewPr varScale="1">
        <p:scale>
          <a:sx n="108" d="100"/>
          <a:sy n="108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97873-72FA-0A49-93AF-5971CCE679B9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2F747-E355-F143-82B7-310820F84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65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2F747-E355-F143-82B7-310820F84CC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26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6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8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66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1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35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2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0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00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89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2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69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FA3D9D0-B371-0843-84CC-87D0AE7760CB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57FB6BA-8151-0944-AECD-B060D2C31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80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B5E1-5F78-0C12-B272-6C10A9024B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 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2ACBA-5E03-17CD-1193-4AB2EDAEFD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178878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CE5F-6557-FBD6-DE71-74F88FB1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0B967-7DF2-0EFE-255B-AFAA74B65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7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AF4F7-BE55-286A-D134-97100388A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robot and boxes with text&#10;&#10;AI-generated content may be incorrect.">
            <a:extLst>
              <a:ext uri="{FF2B5EF4-FFF2-40B4-BE49-F238E27FC236}">
                <a16:creationId xmlns:a16="http://schemas.microsoft.com/office/drawing/2014/main" id="{BC8705FE-C3EB-DBF9-6B4B-D2945C002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951" y="428244"/>
            <a:ext cx="11738098" cy="6001511"/>
          </a:xfrm>
        </p:spPr>
      </p:pic>
    </p:spTree>
    <p:extLst>
      <p:ext uri="{BB962C8B-B14F-4D97-AF65-F5344CB8AC3E}">
        <p14:creationId xmlns:p14="http://schemas.microsoft.com/office/powerpoint/2010/main" val="3689285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EEE1-1753-2D05-BFBC-C1242B80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oup of boxes with robots and words&#10;&#10;AI-generated content may be incorrect.">
            <a:extLst>
              <a:ext uri="{FF2B5EF4-FFF2-40B4-BE49-F238E27FC236}">
                <a16:creationId xmlns:a16="http://schemas.microsoft.com/office/drawing/2014/main" id="{D79B7386-CAF6-7150-27E7-3B17BEA0C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94" y="399833"/>
            <a:ext cx="11951812" cy="6058333"/>
          </a:xfrm>
        </p:spPr>
      </p:pic>
    </p:spTree>
    <p:extLst>
      <p:ext uri="{BB962C8B-B14F-4D97-AF65-F5344CB8AC3E}">
        <p14:creationId xmlns:p14="http://schemas.microsoft.com/office/powerpoint/2010/main" val="82310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DCCCF-39B8-5D70-CE04-1C2D1977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6EC7F-7676-90DB-652C-96E75CE5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jetzt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A724-BFAA-2FA8-356F-76BF9AB23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6508" y="3320817"/>
            <a:ext cx="2501502" cy="5994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Thread 0 </a:t>
            </a:r>
            <a:r>
              <a:rPr lang="en-US" dirty="0" err="1"/>
              <a:t>erstellt</a:t>
            </a:r>
            <a:r>
              <a:rPr lang="en-US" dirty="0"/>
              <a:t> thread 1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BDD2A42-1268-8144-0BB1-42192E319CCB}"/>
              </a:ext>
            </a:extLst>
          </p:cNvPr>
          <p:cNvSpPr/>
          <p:nvPr/>
        </p:nvSpPr>
        <p:spPr>
          <a:xfrm>
            <a:off x="1754659" y="3920243"/>
            <a:ext cx="9341708" cy="3830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Bent-Up Arrow 3">
            <a:extLst>
              <a:ext uri="{FF2B5EF4-FFF2-40B4-BE49-F238E27FC236}">
                <a16:creationId xmlns:a16="http://schemas.microsoft.com/office/drawing/2014/main" id="{83B71A25-EDEC-4AD2-35A7-F7DD06772C36}"/>
              </a:ext>
            </a:extLst>
          </p:cNvPr>
          <p:cNvSpPr/>
          <p:nvPr/>
        </p:nvSpPr>
        <p:spPr>
          <a:xfrm rot="5400000">
            <a:off x="7722974" y="1430479"/>
            <a:ext cx="654908" cy="6289592"/>
          </a:xfrm>
          <a:prstGeom prst="bentUpArrow">
            <a:avLst>
              <a:gd name="adj1" fmla="val 25000"/>
              <a:gd name="adj2" fmla="val 16509"/>
              <a:gd name="adj3" fmla="val 25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71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B4B0E8-C674-4436-5C77-380F4394877B}"/>
              </a:ext>
            </a:extLst>
          </p:cNvPr>
          <p:cNvSpPr/>
          <p:nvPr/>
        </p:nvSpPr>
        <p:spPr>
          <a:xfrm>
            <a:off x="6492445" y="3019792"/>
            <a:ext cx="5037667" cy="20489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B9794-65B0-E7E0-144D-CEB174EB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Möglichkeiten</a:t>
            </a:r>
            <a:r>
              <a:rPr lang="en-US" dirty="0"/>
              <a:t> für </a:t>
            </a:r>
            <a:r>
              <a:rPr lang="en-US" dirty="0" err="1"/>
              <a:t>Umsetzung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3E9F-0792-5C7F-EE1F-955E58027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460587"/>
            <a:ext cx="7594600" cy="310198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Thread (Klasse)</a:t>
            </a: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Thread t1 = new 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MyThread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2000" dirty="0"/>
              <a:t>→ Falls </a:t>
            </a:r>
            <a:r>
              <a:rPr lang="en-US" sz="2000" dirty="0" err="1"/>
              <a:t>MyThread</a:t>
            </a:r>
            <a:r>
              <a:rPr lang="en-US" sz="2000" dirty="0"/>
              <a:t> von Thread </a:t>
            </a:r>
            <a:r>
              <a:rPr lang="en-US" sz="2000" dirty="0" err="1"/>
              <a:t>erbt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Runnable (Interface)</a:t>
            </a:r>
          </a:p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Thread t2 = new Thread(new </a:t>
            </a:r>
            <a:r>
              <a:rPr lang="en-US" sz="2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MyRunnable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());</a:t>
            </a:r>
          </a:p>
          <a:p>
            <a:r>
              <a:rPr lang="en-US" sz="2000" dirty="0"/>
              <a:t>→Falls Runnable </a:t>
            </a:r>
            <a:r>
              <a:rPr lang="en-US" sz="2000" dirty="0" err="1"/>
              <a:t>implementiert</a:t>
            </a:r>
            <a:endParaRPr lang="en-US" sz="2000" dirty="0"/>
          </a:p>
          <a:p>
            <a:r>
              <a:rPr lang="en-US" sz="2000" dirty="0"/>
              <a:t>Hier </a:t>
            </a:r>
            <a:r>
              <a:rPr lang="en-US" sz="2000" dirty="0" err="1"/>
              <a:t>können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dirty="0" err="1"/>
              <a:t>auch</a:t>
            </a:r>
            <a:r>
              <a:rPr lang="en-US" sz="2000" dirty="0"/>
              <a:t> von </a:t>
            </a:r>
            <a:r>
              <a:rPr lang="en-US" sz="2000" dirty="0" err="1"/>
              <a:t>anderen</a:t>
            </a:r>
            <a:r>
              <a:rPr lang="en-US" sz="2000" dirty="0"/>
              <a:t> Klassen </a:t>
            </a:r>
            <a:r>
              <a:rPr lang="en-US" sz="2000" dirty="0" err="1"/>
              <a:t>erben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EAD88-9487-ACD9-1386-0DFB6FBB641A}"/>
              </a:ext>
            </a:extLst>
          </p:cNvPr>
          <p:cNvSpPr txBox="1"/>
          <p:nvPr/>
        </p:nvSpPr>
        <p:spPr>
          <a:xfrm>
            <a:off x="6671733" y="3228651"/>
            <a:ext cx="46790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Threads </a:t>
            </a:r>
            <a:r>
              <a:rPr lang="en-US" sz="2000" dirty="0" err="1">
                <a:solidFill>
                  <a:schemeClr val="bg1"/>
                </a:solidFill>
              </a:rPr>
              <a:t>startet</a:t>
            </a:r>
            <a:r>
              <a:rPr lang="en-US" sz="2000" dirty="0">
                <a:solidFill>
                  <a:schemeClr val="bg1"/>
                </a:solidFill>
              </a:rPr>
              <a:t> man IMMER </a:t>
            </a:r>
            <a:r>
              <a:rPr lang="en-US" sz="2000" dirty="0" err="1">
                <a:solidFill>
                  <a:schemeClr val="bg1"/>
                </a:solidFill>
              </a:rPr>
              <a:t>mit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.start()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</a:rPr>
              <a:t>NIEMALS </a:t>
            </a:r>
            <a:r>
              <a:rPr lang="en-US" sz="2000" dirty="0" err="1">
                <a:solidFill>
                  <a:schemeClr val="accent2"/>
                </a:solidFill>
              </a:rPr>
              <a:t>mit</a:t>
            </a:r>
            <a:r>
              <a:rPr lang="en-US" sz="2000" dirty="0">
                <a:solidFill>
                  <a:schemeClr val="accent2"/>
                </a:solidFill>
              </a:rPr>
              <a:t> .run()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→ Methode </a:t>
            </a:r>
            <a:r>
              <a:rPr lang="en-US" sz="2000" dirty="0" err="1">
                <a:solidFill>
                  <a:schemeClr val="bg1"/>
                </a:solidFill>
              </a:rPr>
              <a:t>läuft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aber</a:t>
            </a:r>
            <a:r>
              <a:rPr lang="en-US" sz="2000" dirty="0">
                <a:solidFill>
                  <a:schemeClr val="bg1"/>
                </a:solidFill>
              </a:rPr>
              <a:t> nicht parallel</a:t>
            </a:r>
          </a:p>
        </p:txBody>
      </p:sp>
    </p:spTree>
    <p:extLst>
      <p:ext uri="{BB962C8B-B14F-4D97-AF65-F5344CB8AC3E}">
        <p14:creationId xmlns:p14="http://schemas.microsoft.com/office/powerpoint/2010/main" val="279129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AC48-1BFC-AF4B-065F-BBDEA51C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Socket/Streams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CDBB-A845-405A-1212-4A16F7BEC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Streams: </a:t>
            </a:r>
            <a:r>
              <a:rPr lang="en-US" sz="3600" dirty="0" err="1"/>
              <a:t>Datenfluss</a:t>
            </a:r>
            <a:r>
              <a:rPr lang="en-US" sz="3600" dirty="0"/>
              <a:t> </a:t>
            </a:r>
          </a:p>
          <a:p>
            <a:r>
              <a:rPr lang="en-US" sz="3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Sockets: </a:t>
            </a:r>
            <a:r>
              <a:rPr lang="en-US" sz="3600" dirty="0" err="1"/>
              <a:t>Verbindung</a:t>
            </a:r>
            <a:r>
              <a:rPr lang="en-US" sz="3600" dirty="0"/>
              <a:t> -&gt; </a:t>
            </a:r>
            <a:r>
              <a:rPr lang="en-US" sz="3600" dirty="0" err="1"/>
              <a:t>nutzen</a:t>
            </a:r>
            <a:r>
              <a:rPr lang="en-US" sz="3600" dirty="0"/>
              <a:t> Streams </a:t>
            </a:r>
          </a:p>
        </p:txBody>
      </p:sp>
    </p:spTree>
    <p:extLst>
      <p:ext uri="{BB962C8B-B14F-4D97-AF65-F5344CB8AC3E}">
        <p14:creationId xmlns:p14="http://schemas.microsoft.com/office/powerpoint/2010/main" val="216356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E05ADF-2655-12E7-A845-BB943ACE0D6A}"/>
              </a:ext>
            </a:extLst>
          </p:cNvPr>
          <p:cNvSpPr/>
          <p:nvPr/>
        </p:nvSpPr>
        <p:spPr>
          <a:xfrm>
            <a:off x="114300" y="4414838"/>
            <a:ext cx="11930063" cy="41433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F4A18-9562-6261-233A-52688BD3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3620-39F3-F67E-7140-B7FA563D2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6438" y="2443162"/>
            <a:ext cx="10215562" cy="3543300"/>
          </a:xfrm>
        </p:spPr>
        <p:txBody>
          <a:bodyPr>
            <a:normAutofit fontScale="92500" lnSpcReduction="10000"/>
          </a:bodyPr>
          <a:lstStyle/>
          <a:p>
            <a:endParaRPr lang="en-US" sz="2000" dirty="0"/>
          </a:p>
          <a:p>
            <a:r>
              <a:rPr lang="en-US" sz="2000" dirty="0"/>
              <a:t>→ Wir </a:t>
            </a:r>
            <a:r>
              <a:rPr lang="en-US" sz="2000" dirty="0" err="1"/>
              <a:t>erhalten</a:t>
            </a:r>
            <a:r>
              <a:rPr lang="en-US" sz="2000" dirty="0"/>
              <a:t> nicht alle </a:t>
            </a:r>
            <a:r>
              <a:rPr lang="en-US" sz="2000" dirty="0" err="1"/>
              <a:t>Werte</a:t>
            </a:r>
            <a:r>
              <a:rPr lang="en-US" sz="2000" dirty="0"/>
              <a:t> auf </a:t>
            </a:r>
            <a:r>
              <a:rPr lang="en-US" sz="2000" dirty="0" err="1"/>
              <a:t>einmal</a:t>
            </a:r>
            <a:r>
              <a:rPr lang="en-US" sz="2000" dirty="0"/>
              <a:t>, </a:t>
            </a:r>
            <a:r>
              <a:rPr lang="en-US" sz="2000" dirty="0" err="1"/>
              <a:t>wie</a:t>
            </a:r>
            <a:r>
              <a:rPr lang="en-US" sz="2000" dirty="0"/>
              <a:t> </a:t>
            </a:r>
            <a:r>
              <a:rPr lang="en-US" sz="2000" dirty="0" err="1"/>
              <a:t>wenn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 Variable </a:t>
            </a:r>
            <a:r>
              <a:rPr lang="en-US" sz="2000" dirty="0" err="1"/>
              <a:t>auslesen</a:t>
            </a:r>
            <a:r>
              <a:rPr lang="en-US" sz="2000" dirty="0"/>
              <a:t>.</a:t>
            </a:r>
          </a:p>
          <a:p>
            <a:r>
              <a:rPr lang="en-US" sz="2000" dirty="0"/>
              <a:t>→ </a:t>
            </a:r>
            <a:r>
              <a:rPr lang="en-US" sz="2000" dirty="0" err="1"/>
              <a:t>Daten</a:t>
            </a:r>
            <a:r>
              <a:rPr lang="en-US" sz="2000" dirty="0"/>
              <a:t> </a:t>
            </a:r>
            <a:r>
              <a:rPr lang="en-US" sz="2000" dirty="0" err="1"/>
              <a:t>kommen</a:t>
            </a:r>
            <a:r>
              <a:rPr lang="en-US" sz="2000" dirty="0"/>
              <a:t> </a:t>
            </a:r>
            <a:r>
              <a:rPr lang="en-US" sz="2000" dirty="0" err="1"/>
              <a:t>nacheinander</a:t>
            </a:r>
            <a:r>
              <a:rPr lang="en-US" sz="2000" dirty="0"/>
              <a:t> in </a:t>
            </a:r>
            <a:r>
              <a:rPr lang="en-US" sz="2000" dirty="0" err="1"/>
              <a:t>Paketen</a:t>
            </a:r>
            <a:r>
              <a:rPr lang="en-US" sz="2000" dirty="0"/>
              <a:t> an</a:t>
            </a:r>
          </a:p>
          <a:p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 </a:t>
            </a:r>
            <a:r>
              <a:rPr lang="en-US" sz="20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= 49 → 49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 err="1">
                <a:solidFill>
                  <a:schemeClr val="bg1"/>
                </a:solidFill>
              </a:rPr>
              <a:t>InputStream</a:t>
            </a:r>
            <a:r>
              <a:rPr lang="en-US" sz="2000" dirty="0">
                <a:solidFill>
                  <a:schemeClr val="bg1"/>
                </a:solidFill>
              </a:rPr>
              <a:t>: 0000000000000000 00000000000000000 00000000000000000 0000000000000</a:t>
            </a:r>
          </a:p>
          <a:p>
            <a:endParaRPr lang="en-US" sz="2000" dirty="0"/>
          </a:p>
          <a:p>
            <a:r>
              <a:rPr lang="en-US" sz="2000" dirty="0"/>
              <a:t>→ Wir </a:t>
            </a:r>
            <a:r>
              <a:rPr lang="en-US" sz="2000" dirty="0" err="1"/>
              <a:t>müssen</a:t>
            </a:r>
            <a:r>
              <a:rPr lang="en-US" sz="2000" dirty="0"/>
              <a:t>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einer</a:t>
            </a:r>
            <a:r>
              <a:rPr lang="en-US" sz="2000" dirty="0"/>
              <a:t> while-</a:t>
            </a:r>
            <a:r>
              <a:rPr lang="en-US" sz="2000" dirty="0" err="1"/>
              <a:t>Schleife</a:t>
            </a:r>
            <a:r>
              <a:rPr lang="en-US" sz="2000" dirty="0"/>
              <a:t> „</a:t>
            </a:r>
            <a:r>
              <a:rPr lang="en-US" sz="2000" dirty="0" err="1"/>
              <a:t>warten</a:t>
            </a:r>
            <a:r>
              <a:rPr lang="en-US" sz="2000" dirty="0"/>
              <a:t>“ bis </a:t>
            </a:r>
            <a:r>
              <a:rPr lang="en-US" sz="2000" dirty="0" err="1"/>
              <a:t>wir</a:t>
            </a:r>
            <a:r>
              <a:rPr lang="en-US" sz="2000" dirty="0"/>
              <a:t> alle </a:t>
            </a:r>
            <a:r>
              <a:rPr lang="en-US" sz="2000" dirty="0" err="1"/>
              <a:t>Daten</a:t>
            </a:r>
            <a:r>
              <a:rPr lang="en-US" sz="2000" dirty="0"/>
              <a:t> </a:t>
            </a:r>
            <a:r>
              <a:rPr lang="en-US" sz="2000" dirty="0" err="1"/>
              <a:t>erhalten</a:t>
            </a:r>
            <a:r>
              <a:rPr lang="en-US" sz="2000" dirty="0"/>
              <a:t> </a:t>
            </a:r>
            <a:r>
              <a:rPr lang="en-US" sz="2000" dirty="0" err="1"/>
              <a:t>haben</a:t>
            </a:r>
            <a:endParaRPr lang="en-US" sz="2000" dirty="0"/>
          </a:p>
          <a:p>
            <a:r>
              <a:rPr lang="en-US" sz="2000" dirty="0"/>
              <a:t>→ </a:t>
            </a:r>
            <a:r>
              <a:rPr lang="en-US" sz="2000" dirty="0" err="1"/>
              <a:t>Kommen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dirty="0" err="1"/>
              <a:t>später</a:t>
            </a:r>
            <a:r>
              <a:rPr lang="en-US" sz="2000" dirty="0"/>
              <a:t> </a:t>
            </a:r>
            <a:r>
              <a:rPr lang="en-US" sz="2000" dirty="0" err="1"/>
              <a:t>zu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60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43E9250-E956-C814-C299-B9E55F312A6A}"/>
              </a:ext>
            </a:extLst>
          </p:cNvPr>
          <p:cNvSpPr/>
          <p:nvPr/>
        </p:nvSpPr>
        <p:spPr>
          <a:xfrm>
            <a:off x="6615113" y="3827426"/>
            <a:ext cx="4300537" cy="23391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DE9225-AFAE-41B3-5650-7BBFC0C71232}"/>
              </a:ext>
            </a:extLst>
          </p:cNvPr>
          <p:cNvSpPr/>
          <p:nvPr/>
        </p:nvSpPr>
        <p:spPr>
          <a:xfrm>
            <a:off x="471488" y="3827426"/>
            <a:ext cx="4500562" cy="23391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3C916C-E7F9-9538-2C45-B3DAF7FEC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Arten</a:t>
            </a:r>
            <a:r>
              <a:rPr lang="en-US" dirty="0"/>
              <a:t> von Streams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38452-8232-8E6E-8CEC-F867ED68C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0368" y="2326487"/>
            <a:ext cx="7343775" cy="118872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2400" dirty="0" err="1"/>
              <a:t>Unterschied</a:t>
            </a:r>
            <a:r>
              <a:rPr lang="en-US" sz="2400" dirty="0"/>
              <a:t> </a:t>
            </a:r>
            <a:r>
              <a:rPr lang="en-US" sz="2400" dirty="0" err="1"/>
              <a:t>liegt</a:t>
            </a:r>
            <a:r>
              <a:rPr lang="en-US" sz="2400" dirty="0"/>
              <a:t> in der </a:t>
            </a:r>
            <a:r>
              <a:rPr lang="en-US" sz="2400" dirty="0" err="1"/>
              <a:t>Größe</a:t>
            </a:r>
            <a:r>
              <a:rPr lang="en-US" sz="2400" dirty="0"/>
              <a:t> der </a:t>
            </a:r>
            <a:r>
              <a:rPr lang="en-US" sz="2400" dirty="0" err="1"/>
              <a:t>Pakete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F600D-FE27-D0D7-44A4-6E79B6F7E7D4}"/>
              </a:ext>
            </a:extLst>
          </p:cNvPr>
          <p:cNvSpPr txBox="1"/>
          <p:nvPr/>
        </p:nvSpPr>
        <p:spPr>
          <a:xfrm>
            <a:off x="635794" y="3827426"/>
            <a:ext cx="526494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 err="1">
                <a:solidFill>
                  <a:schemeClr val="accent5">
                    <a:lumMod val="75000"/>
                  </a:schemeClr>
                </a:solidFill>
              </a:rPr>
              <a:t>CharacterStreams</a:t>
            </a:r>
            <a:endParaRPr lang="en-US" sz="2800" u="sng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Hier </a:t>
            </a:r>
            <a:r>
              <a:rPr lang="en-US" sz="2400" dirty="0" err="1">
                <a:solidFill>
                  <a:schemeClr val="bg1"/>
                </a:solidFill>
              </a:rPr>
              <a:t>werden</a:t>
            </a:r>
            <a:r>
              <a:rPr lang="en-US" sz="2400" dirty="0">
                <a:solidFill>
                  <a:schemeClr val="bg1"/>
                </a:solidFill>
              </a:rPr>
              <a:t> chars </a:t>
            </a:r>
            <a:r>
              <a:rPr lang="en-US" sz="2400" dirty="0" err="1">
                <a:solidFill>
                  <a:schemeClr val="bg1"/>
                </a:solidFill>
              </a:rPr>
              <a:t>gesendet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In Java: Reader / Writer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1 Char: ‚a‘ ‚A‘ ‚#‘ ‚4‘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DAF9A6-679A-B347-E1FF-03DAB4A10B48}"/>
              </a:ext>
            </a:extLst>
          </p:cNvPr>
          <p:cNvSpPr txBox="1"/>
          <p:nvPr/>
        </p:nvSpPr>
        <p:spPr>
          <a:xfrm>
            <a:off x="6736556" y="3827426"/>
            <a:ext cx="515064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 err="1">
                <a:solidFill>
                  <a:schemeClr val="accent6">
                    <a:lumMod val="75000"/>
                  </a:schemeClr>
                </a:solidFill>
              </a:rPr>
              <a:t>ByteStreams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Hier </a:t>
            </a:r>
            <a:r>
              <a:rPr lang="en-US" sz="2400" dirty="0" err="1">
                <a:solidFill>
                  <a:schemeClr val="bg1"/>
                </a:solidFill>
              </a:rPr>
              <a:t>werden</a:t>
            </a:r>
            <a:r>
              <a:rPr lang="en-US" sz="2400" dirty="0">
                <a:solidFill>
                  <a:schemeClr val="bg1"/>
                </a:solidFill>
              </a:rPr>
              <a:t> Zahlen </a:t>
            </a:r>
            <a:r>
              <a:rPr lang="en-US" sz="2400" dirty="0" err="1">
                <a:solidFill>
                  <a:schemeClr val="bg1"/>
                </a:solidFill>
              </a:rPr>
              <a:t>gesendet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In Java: </a:t>
            </a:r>
            <a:r>
              <a:rPr lang="en-US" sz="2400" dirty="0" err="1">
                <a:solidFill>
                  <a:schemeClr val="bg1"/>
                </a:solidFill>
              </a:rPr>
              <a:t>InputStream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dirty="0">
                <a:solidFill>
                  <a:schemeClr val="bg1"/>
                </a:solidFill>
              </a:rPr>
              <a:t>/ </a:t>
            </a:r>
            <a:r>
              <a:rPr lang="en-US" sz="2400" dirty="0" err="1">
                <a:solidFill>
                  <a:schemeClr val="bg1"/>
                </a:solidFill>
              </a:rPr>
              <a:t>OutputStream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1 Byte → 8 Bit → [-128, 127]</a:t>
            </a:r>
          </a:p>
        </p:txBody>
      </p:sp>
    </p:spTree>
    <p:extLst>
      <p:ext uri="{BB962C8B-B14F-4D97-AF65-F5344CB8AC3E}">
        <p14:creationId xmlns:p14="http://schemas.microsoft.com/office/powerpoint/2010/main" val="375900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E9FF0-A22C-E292-A3E8-D3461454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84306-BEEA-9AF8-A7A2-169D09CD9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Wir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erhalten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auslesen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kommen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nacheinander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Paketen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3C211-CDBA-EFA2-4796-174A3F865D56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9506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C5AA6-DED8-EE4C-581D-A6F48A59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E8B2-1EE1-38FA-3A1D-C334A9B4F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A2DF5-5172-282C-92D0-38970664C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Wir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erhalten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auslesen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kommen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nacheinander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Paketen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5BB12-D796-33B4-DA78-DC9B2E66F5F2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FEB5C-2347-9AD8-0C39-46627B87BA30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„H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2D33AB-AB9C-7C41-3ABE-63C8CA7313FD}"/>
              </a:ext>
            </a:extLst>
          </p:cNvPr>
          <p:cNvSpPr/>
          <p:nvPr/>
        </p:nvSpPr>
        <p:spPr>
          <a:xfrm>
            <a:off x="3143250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31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CAF6C-7784-188B-6FDF-FB7B68C3F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3831-FD4F-9BC7-1C5B-1C47511A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C887E-FF2A-E078-E121-172590969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Wir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erhalten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auslesen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kommen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nacheinander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Paketen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D807C-4C89-6A7F-3529-D7288408E730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C1AB0-879F-E9D2-A5A5-74764CC6D90D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„Ha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061BC-3ECD-352F-C280-56DBD27B2ECA}"/>
              </a:ext>
            </a:extLst>
          </p:cNvPr>
          <p:cNvSpPr/>
          <p:nvPr/>
        </p:nvSpPr>
        <p:spPr>
          <a:xfrm>
            <a:off x="4000500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21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FA4B2-A10B-7029-6CD1-968775CA4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D9BB-F49C-CDDF-4B88-1AE4B64A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694C-53B4-6EC2-7D41-88684BDD5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Wir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erhalten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auslesen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kommen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nacheinander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Paketen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3A60D-D93B-D868-09DA-55EA2FE5A901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92813-83B2-63CB-E447-996E148C51EB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„Hal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398187-367D-3242-F29D-D315E61F7BC7}"/>
              </a:ext>
            </a:extLst>
          </p:cNvPr>
          <p:cNvSpPr/>
          <p:nvPr/>
        </p:nvSpPr>
        <p:spPr>
          <a:xfrm>
            <a:off x="4786313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15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19C5D-7BCA-3812-82D1-6940BD86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D9D1-1635-2662-B255-0C68E8F7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EBDCA-7D36-7380-2A4D-A72F1FB2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Wir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erhalten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auslesen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kommen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nacheinander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Paketen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C1176D-318B-8E4D-436D-2B46EE94B440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C3219-0284-396A-2FB6-7445A6B1E03F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„Hall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84A46F-A09A-26ED-95D4-FA8B372E0E0D}"/>
              </a:ext>
            </a:extLst>
          </p:cNvPr>
          <p:cNvSpPr/>
          <p:nvPr/>
        </p:nvSpPr>
        <p:spPr>
          <a:xfrm>
            <a:off x="5729288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64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F27C6-1625-52A6-B4EA-9EE2C9BFD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84B1-2F76-D253-1374-0F1FEC6E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B183-DB65-B335-B23F-9EFCBA6D5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Wir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erhalten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auslesen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kommen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nacheinander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Paketen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C9A5B-AB48-EF65-C071-EC6C72DBAA20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38D50-DE7C-5628-C999-19733F6AC621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„Hallo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52F0E-1FD6-10F0-A309-00F6065595BC}"/>
              </a:ext>
            </a:extLst>
          </p:cNvPr>
          <p:cNvSpPr/>
          <p:nvPr/>
        </p:nvSpPr>
        <p:spPr>
          <a:xfrm>
            <a:off x="6672260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18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DFBFE-7AAD-FDA1-BF5F-02BCDBAE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5A171-99F6-6CF7-787E-143AFA52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5322A-E088-3C44-3449-E857B1927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Wir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erhalten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auslesen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kommen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nacheinander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Paketen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EBBCD-6D62-0769-9C4B-A8B4A0992015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AC5974-1669-6B8B-F10F-B826F50CDA0F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</a:t>
            </a: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HalloW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500890-FAD4-B1A6-A51B-B90ACD9C0379}"/>
              </a:ext>
            </a:extLst>
          </p:cNvPr>
          <p:cNvSpPr/>
          <p:nvPr/>
        </p:nvSpPr>
        <p:spPr>
          <a:xfrm>
            <a:off x="7643810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39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355A5-8450-4E02-9426-7A9567544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18782-8DA5-0CFB-8E46-B78F4B765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D12C7-063E-3358-0CD0-9E22ED502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Wir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erhalten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auslesen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kommen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nacheinander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Paketen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586BE-2772-77CC-72B2-B5A167AB0E8B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B0E12-F236-AF49-508A-79CB63FA7E14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</a:t>
            </a: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HalloWe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F115A8-E0AE-C181-C7E8-1E1A4CF7FD80}"/>
              </a:ext>
            </a:extLst>
          </p:cNvPr>
          <p:cNvSpPr/>
          <p:nvPr/>
        </p:nvSpPr>
        <p:spPr>
          <a:xfrm>
            <a:off x="8543923" y="5255395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78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B0559-82C4-5811-F5EE-4940CEC6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5A98-3D79-FF3B-0289-1832309A4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856D7-BDD5-B4A5-9750-BF320AE49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Wir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erhalten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auslesen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kommen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nacheinander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Paketen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7D006-44CC-1FAF-0BE9-5F5713285F27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8390E-6DE9-244A-3A6F-7EAB88FCCE21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</a:t>
            </a: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HalloWel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F74E70-9512-B8DD-5FA0-A6656941E082}"/>
              </a:ext>
            </a:extLst>
          </p:cNvPr>
          <p:cNvSpPr/>
          <p:nvPr/>
        </p:nvSpPr>
        <p:spPr>
          <a:xfrm>
            <a:off x="9344023" y="5308532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9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3450A-C071-1BD4-7311-8FEB9DB3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3A67-C0A2-CA92-F743-E2237A33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C228B-5BD7-42DF-FC26-7178BE765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Wir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erhalten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nicht alle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auf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einmal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wenn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auslesen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Daten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kommen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nacheinander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Paketen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2AE41-41EA-8EC8-8529-0F4B0498F224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8F15AC-1037-05D6-8171-99A78FE68D3C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</a:t>
            </a: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HalloWelt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8D38DD-D3E1-1CF8-CCB0-1733FCEE6C1F}"/>
              </a:ext>
            </a:extLst>
          </p:cNvPr>
          <p:cNvSpPr/>
          <p:nvPr/>
        </p:nvSpPr>
        <p:spPr>
          <a:xfrm>
            <a:off x="10129835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64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0BB64-7D76-3637-8364-21806CD3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18043D-07A8-0D44-D42B-29A1AFF58953}"/>
              </a:ext>
            </a:extLst>
          </p:cNvPr>
          <p:cNvSpPr/>
          <p:nvPr/>
        </p:nvSpPr>
        <p:spPr>
          <a:xfrm>
            <a:off x="4829175" y="5893308"/>
            <a:ext cx="6415086" cy="7694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47D80-3504-B20D-4CED-47B29223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EAFF1-E3FF-D21B-E9A4-D820B8BBE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E87A4-6CC0-AB9C-C062-CF97FF3E1035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D75E4-C761-3DFD-DC65-2DBC0714062B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</a:t>
            </a: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HalloWelt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C98CF4-F89F-144A-76F5-88F4949C1C35}"/>
              </a:ext>
            </a:extLst>
          </p:cNvPr>
          <p:cNvSpPr/>
          <p:nvPr/>
        </p:nvSpPr>
        <p:spPr>
          <a:xfrm>
            <a:off x="10772773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FF1FF-BBF0-59E3-D958-5ED0EC4B8220}"/>
              </a:ext>
            </a:extLst>
          </p:cNvPr>
          <p:cNvSpPr txBox="1"/>
          <p:nvPr/>
        </p:nvSpPr>
        <p:spPr>
          <a:xfrm>
            <a:off x="4964906" y="5893308"/>
            <a:ext cx="6100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Sobald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null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eingelesen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wird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weiß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ich,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dass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der String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vollständig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</a:t>
            </a:r>
            <a:endParaRPr lang="en-US" sz="20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637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D52F-48FC-4C3B-CA7E-17BDEDF5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8F7D74-6DF9-88AB-D788-B47A66AB40B2}"/>
              </a:ext>
            </a:extLst>
          </p:cNvPr>
          <p:cNvSpPr/>
          <p:nvPr/>
        </p:nvSpPr>
        <p:spPr>
          <a:xfrm>
            <a:off x="4829175" y="5893308"/>
            <a:ext cx="6415086" cy="7694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7E152-104B-FB22-E436-9697C61B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machen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das </a:t>
            </a:r>
            <a:r>
              <a:rPr lang="en-US" dirty="0" err="1"/>
              <a:t>im</a:t>
            </a:r>
            <a:r>
              <a:rPr lang="en-US" dirty="0"/>
              <a:t>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7F668-DEFD-90D1-8CC2-37A03C106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153412"/>
            <a:ext cx="7729728" cy="31019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34255-0A6E-AA2D-8978-051D2954472A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C605A-56AE-A485-3526-416DE402C793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</a:t>
            </a: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HalloWelt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355CD0-3239-31DA-341F-ACAE75BF2BE7}"/>
              </a:ext>
            </a:extLst>
          </p:cNvPr>
          <p:cNvSpPr/>
          <p:nvPr/>
        </p:nvSpPr>
        <p:spPr>
          <a:xfrm>
            <a:off x="10772773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7B589-134F-DD67-EF74-C3299C085F49}"/>
              </a:ext>
            </a:extLst>
          </p:cNvPr>
          <p:cNvSpPr txBox="1"/>
          <p:nvPr/>
        </p:nvSpPr>
        <p:spPr>
          <a:xfrm>
            <a:off x="4964906" y="5893308"/>
            <a:ext cx="6100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Sobald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null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eingelesen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wird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weiß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ich,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dass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der String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vollständig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</a:t>
            </a:r>
          </a:p>
        </p:txBody>
      </p:sp>
    </p:spTree>
    <p:extLst>
      <p:ext uri="{BB962C8B-B14F-4D97-AF65-F5344CB8AC3E}">
        <p14:creationId xmlns:p14="http://schemas.microsoft.com/office/powerpoint/2010/main" val="1090477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B5F3-4859-BF98-ADED-6C6778BF8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FC6D9AA-6942-A31E-52FE-EE0ADDAC49A9}"/>
              </a:ext>
            </a:extLst>
          </p:cNvPr>
          <p:cNvSpPr/>
          <p:nvPr/>
        </p:nvSpPr>
        <p:spPr>
          <a:xfrm>
            <a:off x="942975" y="2153412"/>
            <a:ext cx="10515600" cy="31551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405E2E-AFD7-F42E-79F4-DC92EAA38F68}"/>
              </a:ext>
            </a:extLst>
          </p:cNvPr>
          <p:cNvSpPr/>
          <p:nvPr/>
        </p:nvSpPr>
        <p:spPr>
          <a:xfrm>
            <a:off x="4829175" y="5893308"/>
            <a:ext cx="6415086" cy="7694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FE8F8-C1A6-2F47-38CA-721CDCBC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687" y="642115"/>
            <a:ext cx="7729728" cy="1188720"/>
          </a:xfrm>
        </p:spPr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machen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das </a:t>
            </a:r>
            <a:r>
              <a:rPr lang="en-US" dirty="0" err="1"/>
              <a:t>im</a:t>
            </a:r>
            <a:r>
              <a:rPr lang="en-US" dirty="0"/>
              <a:t> Code?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866501-A4CF-D7C9-8252-A5196942FB3D}"/>
              </a:ext>
            </a:extLst>
          </p:cNvPr>
          <p:cNvSpPr txBox="1"/>
          <p:nvPr/>
        </p:nvSpPr>
        <p:spPr>
          <a:xfrm>
            <a:off x="571498" y="5308533"/>
            <a:ext cx="11301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‚H‘		 ‚a‘		‚l’		‚l‘		‚o‘		‚W‘		 ‚e‘ 		‚l‘		‚t‘ 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AF353-C8F9-197A-4C13-C5C449D11E56}"/>
              </a:ext>
            </a:extLst>
          </p:cNvPr>
          <p:cNvSpPr txBox="1"/>
          <p:nvPr/>
        </p:nvSpPr>
        <p:spPr>
          <a:xfrm>
            <a:off x="571498" y="6044005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String result = „</a:t>
            </a:r>
            <a:r>
              <a:rPr lang="en-US" sz="20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HalloWelt</a:t>
            </a:r>
            <a:r>
              <a:rPr lang="en-US" dirty="0"/>
              <a:t>“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0AF5C4-DE85-F89D-1535-00261281DA89}"/>
              </a:ext>
            </a:extLst>
          </p:cNvPr>
          <p:cNvSpPr/>
          <p:nvPr/>
        </p:nvSpPr>
        <p:spPr>
          <a:xfrm>
            <a:off x="10772773" y="5308533"/>
            <a:ext cx="7143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3AE150-3B1C-E062-D98C-2533343BF66E}"/>
              </a:ext>
            </a:extLst>
          </p:cNvPr>
          <p:cNvSpPr txBox="1"/>
          <p:nvPr/>
        </p:nvSpPr>
        <p:spPr>
          <a:xfrm>
            <a:off x="4964906" y="5893308"/>
            <a:ext cx="6100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Sobald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null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eingelesen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wird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weiß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ich,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dass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der String 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vollständig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AE6C6-A45B-D6CF-3FAE-B6A8F390A8B1}"/>
              </a:ext>
            </a:extLst>
          </p:cNvPr>
          <p:cNvSpPr txBox="1"/>
          <p:nvPr/>
        </p:nvSpPr>
        <p:spPr>
          <a:xfrm>
            <a:off x="1328736" y="2607588"/>
            <a:ext cx="991552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BufferedReader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solidFill>
                  <a:srgbClr val="FF7E3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new </a:t>
            </a:r>
            <a:r>
              <a:rPr lang="en-US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BufferedReader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FileReader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input.txt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")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"";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bg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"";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while ((</a:t>
            </a:r>
            <a:r>
              <a:rPr lang="en-US" sz="2000" b="1" dirty="0">
                <a:solidFill>
                  <a:schemeClr val="bg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000" b="1" dirty="0" err="1">
                <a:solidFill>
                  <a:srgbClr val="FF7E3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20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.readLine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()) != </a:t>
            </a:r>
            <a:r>
              <a:rPr lang="en-US" sz="20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+= </a:t>
            </a:r>
            <a:r>
              <a:rPr lang="en-US" sz="2000" b="1" dirty="0">
                <a:solidFill>
                  <a:schemeClr val="bg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"\n";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sz="20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9219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51C9F0-36B1-1D85-C750-0F7EFEE30565}"/>
              </a:ext>
            </a:extLst>
          </p:cNvPr>
          <p:cNvSpPr/>
          <p:nvPr/>
        </p:nvSpPr>
        <p:spPr>
          <a:xfrm>
            <a:off x="2231136" y="2967335"/>
            <a:ext cx="7729728" cy="14001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6F322-07F4-71EF-24BE-D8D035ED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/ Streams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F7E87B-5915-D3FB-90F6-CE142403C3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02674" y="3429000"/>
            <a:ext cx="5458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BufferedReader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macht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Zeichen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Zeilen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402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3577-0EA4-D2BE-280A-280BB44A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</a:t>
            </a:r>
            <a:r>
              <a:rPr lang="en-US" dirty="0" err="1"/>
              <a:t>Seite</a:t>
            </a:r>
            <a:r>
              <a:rPr lang="en-US" dirty="0"/>
              <a:t>: 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26F68-0EF3-EAED-D38E-AAAA8403C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Socket s = new Socket("localhost", 9999);</a:t>
            </a:r>
          </a:p>
          <a:p>
            <a:r>
              <a:rPr lang="en-US" sz="2400" dirty="0"/>
              <a:t>Socket </a:t>
            </a:r>
            <a:r>
              <a:rPr lang="en-US" sz="2400" dirty="0" err="1"/>
              <a:t>erstellen</a:t>
            </a:r>
            <a:r>
              <a:rPr lang="en-US" sz="2400" dirty="0"/>
              <a:t> = </a:t>
            </a:r>
            <a:r>
              <a:rPr lang="en-US" sz="2400" dirty="0" err="1"/>
              <a:t>Verbindung</a:t>
            </a:r>
            <a:r>
              <a:rPr lang="en-US" sz="2400" dirty="0"/>
              <a:t> </a:t>
            </a:r>
            <a:r>
              <a:rPr lang="en-US" sz="2400" dirty="0" err="1"/>
              <a:t>versuchen</a:t>
            </a:r>
            <a:endParaRPr lang="en-US" sz="2400" dirty="0"/>
          </a:p>
          <a:p>
            <a:r>
              <a:rPr lang="en-US" sz="2400" dirty="0"/>
              <a:t>-&gt; 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der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konstruktor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versucht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sofort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zu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verbinden</a:t>
            </a:r>
            <a:endParaRPr lang="en-US"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r>
              <a:rPr lang="en-US" sz="2400" dirty="0"/>
              <a:t>-&gt; </a:t>
            </a:r>
            <a:r>
              <a:rPr lang="en-US" sz="24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wenn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es nicht </a:t>
            </a:r>
            <a:r>
              <a:rPr lang="en-US" sz="24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klappt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-</a:t>
            </a:r>
            <a:r>
              <a:rPr lang="en-US" sz="2400" dirty="0"/>
              <a:t>&gt; Exception</a:t>
            </a:r>
          </a:p>
        </p:txBody>
      </p:sp>
    </p:spTree>
    <p:extLst>
      <p:ext uri="{BB962C8B-B14F-4D97-AF65-F5344CB8AC3E}">
        <p14:creationId xmlns:p14="http://schemas.microsoft.com/office/powerpoint/2010/main" val="296563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BCDBDCB-4573-1635-4564-52AC63A297B8}"/>
              </a:ext>
            </a:extLst>
          </p:cNvPr>
          <p:cNvSpPr/>
          <p:nvPr/>
        </p:nvSpPr>
        <p:spPr>
          <a:xfrm>
            <a:off x="6005512" y="5181470"/>
            <a:ext cx="6043612" cy="12872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25D6F85-81EE-4FF0-324C-FD26DAAEF000}"/>
              </a:ext>
            </a:extLst>
          </p:cNvPr>
          <p:cNvSpPr/>
          <p:nvPr/>
        </p:nvSpPr>
        <p:spPr>
          <a:xfrm>
            <a:off x="312906" y="5257800"/>
            <a:ext cx="5359232" cy="1128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3D6B25F-7ECC-9713-0CEC-855F8049D108}"/>
              </a:ext>
            </a:extLst>
          </p:cNvPr>
          <p:cNvSpPr/>
          <p:nvPr/>
        </p:nvSpPr>
        <p:spPr>
          <a:xfrm>
            <a:off x="3717131" y="5952963"/>
            <a:ext cx="6796086" cy="7593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2D95231-F911-EFC5-E707-DF115F3F4718}"/>
              </a:ext>
            </a:extLst>
          </p:cNvPr>
          <p:cNvSpPr/>
          <p:nvPr/>
        </p:nvSpPr>
        <p:spPr>
          <a:xfrm>
            <a:off x="2231136" y="2557463"/>
            <a:ext cx="7729728" cy="21471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5054-6BFB-BB54-AE47-5A224B6B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</a:t>
            </a:r>
            <a:r>
              <a:rPr lang="en-US" dirty="0" err="1"/>
              <a:t>Seite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438CD-F514-D5B0-4E0E-8572F0A0F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ServerSocket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Socket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verbidnung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aber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der Client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initiiert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ServerSocket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Rezeption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Front Desk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964B9-3D4E-8559-380F-BC8BB5F05C04}"/>
              </a:ext>
            </a:extLst>
          </p:cNvPr>
          <p:cNvSpPr txBox="1"/>
          <p:nvPr/>
        </p:nvSpPr>
        <p:spPr>
          <a:xfrm>
            <a:off x="391886" y="53706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ServerSocket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server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= new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ServerSocket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(9999)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AA4518-8838-1E4C-281E-F0FE4CFD504C}"/>
              </a:ext>
            </a:extLst>
          </p:cNvPr>
          <p:cNvSpPr txBox="1"/>
          <p:nvPr/>
        </p:nvSpPr>
        <p:spPr>
          <a:xfrm>
            <a:off x="391886" y="574002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Socket client = </a:t>
            </a:r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.accept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();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5C32844-C8E7-8F02-3282-EB4F273E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-webkit-standard"/>
              </a:rPr>
              <a:t>.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8E3BAE-DCB3-9F84-F1B4-A4D7653138D1}"/>
              </a:ext>
            </a:extLst>
          </p:cNvPr>
          <p:cNvSpPr txBox="1"/>
          <p:nvPr/>
        </p:nvSpPr>
        <p:spPr>
          <a:xfrm>
            <a:off x="6096000" y="5367146"/>
            <a:ext cx="612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Socket s = new Socket("localhost", 9999);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50C5F8-0CDD-DB13-C723-6969E2403C8E}"/>
              </a:ext>
            </a:extLst>
          </p:cNvPr>
          <p:cNvSpPr txBox="1"/>
          <p:nvPr/>
        </p:nvSpPr>
        <p:spPr>
          <a:xfrm>
            <a:off x="312906" y="4416485"/>
            <a:ext cx="2145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Server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87149-BAFC-CBD4-8B3F-31EAE3501592}"/>
              </a:ext>
            </a:extLst>
          </p:cNvPr>
          <p:cNvSpPr txBox="1"/>
          <p:nvPr/>
        </p:nvSpPr>
        <p:spPr>
          <a:xfrm>
            <a:off x="10348912" y="4326880"/>
            <a:ext cx="1700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Client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9C4119-2EBC-9287-5749-7C93B3CB17E3}"/>
              </a:ext>
            </a:extLst>
          </p:cNvPr>
          <p:cNvSpPr txBox="1"/>
          <p:nvPr/>
        </p:nvSpPr>
        <p:spPr>
          <a:xfrm>
            <a:off x="3793331" y="6027191"/>
            <a:ext cx="66436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accept() </a:t>
            </a:r>
            <a:r>
              <a:rPr lang="en-US" alt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blockiert</a:t>
            </a:r>
            <a:r>
              <a:rPr lang="en-US" altLang="en-US" sz="20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: es </a:t>
            </a:r>
            <a:r>
              <a:rPr lang="en-US" altLang="en-US" sz="20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wartet</a:t>
            </a:r>
            <a:r>
              <a:rPr lang="en-US" altLang="en-US" sz="20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bis </a:t>
            </a:r>
            <a:r>
              <a:rPr lang="en-US" altLang="en-US" sz="20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</a:t>
            </a:r>
            <a:r>
              <a:rPr lang="en-US" altLang="en-US" sz="20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Client </a:t>
            </a:r>
            <a:r>
              <a:rPr lang="en-US" altLang="en-US" sz="20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sich</a:t>
            </a:r>
            <a:r>
              <a:rPr lang="en-US" altLang="en-US" sz="2000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verbindet</a:t>
            </a:r>
            <a:r>
              <a:rPr lang="en-US" altLang="en-US" dirty="0"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21" name="Left Arrow 20">
            <a:extLst>
              <a:ext uri="{FF2B5EF4-FFF2-40B4-BE49-F238E27FC236}">
                <a16:creationId xmlns:a16="http://schemas.microsoft.com/office/drawing/2014/main" id="{3074B9CF-1C96-3F17-D9C8-E3BCCE87D4F9}"/>
              </a:ext>
            </a:extLst>
          </p:cNvPr>
          <p:cNvSpPr/>
          <p:nvPr/>
        </p:nvSpPr>
        <p:spPr>
          <a:xfrm rot="1325146">
            <a:off x="3039481" y="6158277"/>
            <a:ext cx="800809" cy="192496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79AFF6AE-1F67-2E23-B265-28162BC3C2DE}"/>
              </a:ext>
            </a:extLst>
          </p:cNvPr>
          <p:cNvSpPr/>
          <p:nvPr/>
        </p:nvSpPr>
        <p:spPr>
          <a:xfrm rot="20939772">
            <a:off x="8129588" y="5822156"/>
            <a:ext cx="1031080" cy="2050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5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" grpId="0" build="p"/>
      <p:bldP spid="6" grpId="0"/>
      <p:bldP spid="8" grpId="0"/>
      <p:bldP spid="15" grpId="0"/>
      <p:bldP spid="17" grpId="0"/>
      <p:bldP spid="18" grpId="0"/>
      <p:bldP spid="19" grpId="0"/>
      <p:bldP spid="21" grpId="0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5811B50-C0A3-8ED5-7BDB-C62DE31EEFA6}"/>
              </a:ext>
            </a:extLst>
          </p:cNvPr>
          <p:cNvSpPr/>
          <p:nvPr/>
        </p:nvSpPr>
        <p:spPr>
          <a:xfrm>
            <a:off x="1957388" y="2528888"/>
            <a:ext cx="8643937" cy="3429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4D114F-96B5-DFE3-B85D-AD9FFB37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AF65-662B-3EB0-ED5F-466CD7B3D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Für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alles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über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Streams-&gt;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Client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brauchst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du Streams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vom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zum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Server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dem Socket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bekommst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du </a:t>
            </a:r>
          </a:p>
          <a:p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InputStream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mySocket.getInputStream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OutputStream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out 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mySocket.getOutputStream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Wenn Fertig: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mySocket.close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schließt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verbindung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beide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Streams</a:t>
            </a:r>
          </a:p>
        </p:txBody>
      </p:sp>
    </p:spTree>
    <p:extLst>
      <p:ext uri="{BB962C8B-B14F-4D97-AF65-F5344CB8AC3E}">
        <p14:creationId xmlns:p14="http://schemas.microsoft.com/office/powerpoint/2010/main" val="51512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D941E-A890-CBE5-BA27-3962542A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Welcher Stream </a:t>
            </a:r>
            <a:r>
              <a:rPr lang="en-US" dirty="0" err="1"/>
              <a:t>ist</a:t>
            </a:r>
            <a:r>
              <a:rPr lang="en-US" dirty="0"/>
              <a:t> Welcher?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8A6E24-0BB1-C080-ECD6-841F1ACC15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47850" y="3759696"/>
            <a:ext cx="5670142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InputStream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 der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anderen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Seite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OutputStream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 mir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anderen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Seite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027C76-852A-510D-C557-AC5949E5A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6703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E126FB-6EF9-A8C9-1161-22EC72289081}"/>
              </a:ext>
            </a:extLst>
          </p:cNvPr>
          <p:cNvSpPr/>
          <p:nvPr/>
        </p:nvSpPr>
        <p:spPr>
          <a:xfrm>
            <a:off x="8143875" y="3429000"/>
            <a:ext cx="2200275" cy="220027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F7B619F-66A8-8EBF-0EF4-E3D792FE338E}"/>
              </a:ext>
            </a:extLst>
          </p:cNvPr>
          <p:cNvSpPr/>
          <p:nvPr/>
        </p:nvSpPr>
        <p:spPr>
          <a:xfrm>
            <a:off x="1676400" y="4214813"/>
            <a:ext cx="7210425" cy="31432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8C5BB908-AD7B-3424-2F96-6738CD0B26AA}"/>
              </a:ext>
            </a:extLst>
          </p:cNvPr>
          <p:cNvSpPr/>
          <p:nvPr/>
        </p:nvSpPr>
        <p:spPr>
          <a:xfrm>
            <a:off x="1257300" y="4529137"/>
            <a:ext cx="7543800" cy="325892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42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949361-FD66-481B-BEA9-25D15A4ED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CB42F-1825-96A7-6FCD-AE220ED79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>
                <a:solidFill>
                  <a:srgbClr val="1D2C31"/>
                </a:solidFill>
              </a:rPr>
              <a:t>Aufgabe</a:t>
            </a:r>
          </a:p>
        </p:txBody>
      </p:sp>
      <p:pic>
        <p:nvPicPr>
          <p:cNvPr id="4" name="Content Placeholder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777D757-1319-40AB-AC3C-8A6EEED00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571" y="2958291"/>
            <a:ext cx="11014857" cy="234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86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567D-B9ED-546B-DDC1-B5CF024B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computer program&#10;&#10;AI-generated content may be incorrect.">
            <a:extLst>
              <a:ext uri="{FF2B5EF4-FFF2-40B4-BE49-F238E27FC236}">
                <a16:creationId xmlns:a16="http://schemas.microsoft.com/office/drawing/2014/main" id="{CC5FA1B5-2BD3-8B03-A13E-130424C5C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625" y="514350"/>
            <a:ext cx="11614750" cy="5272087"/>
          </a:xfrm>
        </p:spPr>
      </p:pic>
    </p:spTree>
    <p:extLst>
      <p:ext uri="{BB962C8B-B14F-4D97-AF65-F5344CB8AC3E}">
        <p14:creationId xmlns:p14="http://schemas.microsoft.com/office/powerpoint/2010/main" val="16173530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E3A1B-1385-4E11-9340-F3956D99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Kalusur</a:t>
            </a:r>
            <a:r>
              <a:rPr lang="en-US" dirty="0"/>
              <a:t> </a:t>
            </a:r>
            <a:r>
              <a:rPr lang="en-US" dirty="0" err="1"/>
              <a:t>Übung</a:t>
            </a:r>
            <a:endParaRPr lang="en-US" dirty="0"/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7A00BE6-CB66-1497-FFDD-D9655BD82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1136" y="325968"/>
            <a:ext cx="8839808" cy="6206063"/>
          </a:xfrm>
        </p:spPr>
      </p:pic>
    </p:spTree>
    <p:extLst>
      <p:ext uri="{BB962C8B-B14F-4D97-AF65-F5344CB8AC3E}">
        <p14:creationId xmlns:p14="http://schemas.microsoft.com/office/powerpoint/2010/main" val="2397911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5A3D-F436-E2AB-E627-D496E20D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569E2-D78C-153E-2395-4E6FD7A64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39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2721</TotalTime>
  <Words>1478</Words>
  <Application>Microsoft Macintosh PowerPoint</Application>
  <PresentationFormat>Widescreen</PresentationFormat>
  <Paragraphs>169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Gill Sans MT</vt:lpstr>
      <vt:lpstr>Parcel</vt:lpstr>
      <vt:lpstr>Tutorial 14</vt:lpstr>
      <vt:lpstr>Recap</vt:lpstr>
      <vt:lpstr>PowerPoint Presentation</vt:lpstr>
      <vt:lpstr>PowerPoint Presentation</vt:lpstr>
      <vt:lpstr>jetzt </vt:lpstr>
      <vt:lpstr>Möglichkeiten für Umsetzung</vt:lpstr>
      <vt:lpstr>Socket/Streams</vt:lpstr>
      <vt:lpstr>Sockets / Streams </vt:lpstr>
      <vt:lpstr>Arten von Streams </vt:lpstr>
      <vt:lpstr>Sockets / Streams</vt:lpstr>
      <vt:lpstr>Sockets / Streams</vt:lpstr>
      <vt:lpstr>Sockets / Streams</vt:lpstr>
      <vt:lpstr>Sockets / Streams</vt:lpstr>
      <vt:lpstr>Sockets / Streams</vt:lpstr>
      <vt:lpstr>Sockets / Streams</vt:lpstr>
      <vt:lpstr>Sockets / Streams</vt:lpstr>
      <vt:lpstr>Sockets / Streams</vt:lpstr>
      <vt:lpstr>Sockets / Streams</vt:lpstr>
      <vt:lpstr>Sockets / Streams</vt:lpstr>
      <vt:lpstr>Sockets / Streams</vt:lpstr>
      <vt:lpstr>Wie machen wir das im Code?</vt:lpstr>
      <vt:lpstr>Wie machen wir das im Code?</vt:lpstr>
      <vt:lpstr>Sockets / Streams</vt:lpstr>
      <vt:lpstr>Client Seite: Socket</vt:lpstr>
      <vt:lpstr>Server Seite:</vt:lpstr>
      <vt:lpstr>Streams</vt:lpstr>
      <vt:lpstr>Welcher Stream ist Welcher?</vt:lpstr>
      <vt:lpstr>Aufgabe</vt:lpstr>
      <vt:lpstr>PowerPoint Presentation</vt:lpstr>
      <vt:lpstr>Kalusur Übung</vt:lpstr>
      <vt:lpstr>PowerPoint Presentation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2</cp:revision>
  <dcterms:created xsi:type="dcterms:W3CDTF">2026-02-01T17:16:45Z</dcterms:created>
  <dcterms:modified xsi:type="dcterms:W3CDTF">2026-02-05T17:49:58Z</dcterms:modified>
</cp:coreProperties>
</file>