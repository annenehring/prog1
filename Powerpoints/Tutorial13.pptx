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85" r:id="rId3"/>
    <p:sldId id="292" r:id="rId4"/>
    <p:sldId id="293" r:id="rId5"/>
    <p:sldId id="294" r:id="rId6"/>
    <p:sldId id="286" r:id="rId7"/>
    <p:sldId id="291" r:id="rId8"/>
    <p:sldId id="295" r:id="rId9"/>
    <p:sldId id="296" r:id="rId10"/>
    <p:sldId id="297" r:id="rId11"/>
    <p:sldId id="299" r:id="rId12"/>
    <p:sldId id="298" r:id="rId13"/>
    <p:sldId id="300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D05C6-7E78-B242-BB85-AD9FE8946353}" v="108" dt="2026-01-27T10:30:56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82"/>
    <p:restoredTop sz="94796"/>
  </p:normalViewPr>
  <p:slideViewPr>
    <p:cSldViewPr snapToGrid="0">
      <p:cViewPr>
        <p:scale>
          <a:sx n="91" d="100"/>
          <a:sy n="91" d="100"/>
        </p:scale>
        <p:origin x="14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0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92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6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06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26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5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8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AA37E95-9087-8C40-AF96-7D8CDED5FC6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42ED37-83AA-D74D-84A2-B74276C0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4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9B82-D99E-FE1C-62B1-55A8143FA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D5B2B-F465-CFA1-4035-BAA350AFD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212846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D5B28C-36F2-6702-4B1B-0F8685962062}"/>
              </a:ext>
            </a:extLst>
          </p:cNvPr>
          <p:cNvSpPr/>
          <p:nvPr/>
        </p:nvSpPr>
        <p:spPr>
          <a:xfrm>
            <a:off x="999067" y="4704589"/>
            <a:ext cx="10430933" cy="15268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667C8F-6201-37CF-9DAE-1B52EBDE41D0}"/>
              </a:ext>
            </a:extLst>
          </p:cNvPr>
          <p:cNvSpPr/>
          <p:nvPr/>
        </p:nvSpPr>
        <p:spPr>
          <a:xfrm>
            <a:off x="2015067" y="2828835"/>
            <a:ext cx="8086876" cy="155689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8F75D-D4DD-A7A1-1AD3-7A09985B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Concurrency</a:t>
            </a:r>
            <a:b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53E552-D04A-F13C-2296-0B2BC52BFE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007119"/>
            <a:ext cx="78708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Mehrere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eines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Programms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können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überlappend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gleichzeitig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ausgeführt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werden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52BE13-0DDE-8D2B-E550-E02F30E5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364" y="4704589"/>
            <a:ext cx="97721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Wichtig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Concurrency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heißt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nicht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zwingend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exakt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gleichzeitig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läuft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schnelles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Abwechseln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(Pseudo-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Parallelität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zählt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dazu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8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FB14-2288-E1B2-C345-7355DEC4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 </a:t>
            </a:r>
            <a:r>
              <a:rPr lang="en-US" dirty="0" err="1"/>
              <a:t>jetzt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4C407-AC1A-C53A-FEF8-AAEE3647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508" y="3567952"/>
            <a:ext cx="2501502" cy="599426"/>
          </a:xfrm>
        </p:spPr>
        <p:txBody>
          <a:bodyPr/>
          <a:lstStyle/>
          <a:p>
            <a:r>
              <a:rPr lang="en-US" dirty="0"/>
              <a:t>Thread 0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DE200CF-F557-C3AC-43DD-D8E82ECB7166}"/>
              </a:ext>
            </a:extLst>
          </p:cNvPr>
          <p:cNvSpPr/>
          <p:nvPr/>
        </p:nvSpPr>
        <p:spPr>
          <a:xfrm>
            <a:off x="1754659" y="3920243"/>
            <a:ext cx="9341708" cy="383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CCCF-39B8-5D70-CE04-1C2D1977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EC7F-7676-90DB-652C-96E75CE5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jetzt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724-BFAA-2FA8-356F-76BF9AB2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508" y="3320817"/>
            <a:ext cx="2501502" cy="599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Thread 0 </a:t>
            </a:r>
            <a:r>
              <a:rPr lang="en-US" dirty="0" err="1"/>
              <a:t>erstellt</a:t>
            </a:r>
            <a:r>
              <a:rPr lang="en-US" dirty="0"/>
              <a:t> thread 1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BDD2A42-1268-8144-0BB1-42192E319CCB}"/>
              </a:ext>
            </a:extLst>
          </p:cNvPr>
          <p:cNvSpPr/>
          <p:nvPr/>
        </p:nvSpPr>
        <p:spPr>
          <a:xfrm>
            <a:off x="1754659" y="3920243"/>
            <a:ext cx="9341708" cy="383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ent-Up Arrow 3">
            <a:extLst>
              <a:ext uri="{FF2B5EF4-FFF2-40B4-BE49-F238E27FC236}">
                <a16:creationId xmlns:a16="http://schemas.microsoft.com/office/drawing/2014/main" id="{83B71A25-EDEC-4AD2-35A7-F7DD06772C36}"/>
              </a:ext>
            </a:extLst>
          </p:cNvPr>
          <p:cNvSpPr/>
          <p:nvPr/>
        </p:nvSpPr>
        <p:spPr>
          <a:xfrm rot="5400000">
            <a:off x="7722974" y="1430479"/>
            <a:ext cx="654908" cy="6289592"/>
          </a:xfrm>
          <a:prstGeom prst="bentUpArrow">
            <a:avLst>
              <a:gd name="adj1" fmla="val 25000"/>
              <a:gd name="adj2" fmla="val 16509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7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B4B0E8-C674-4436-5C77-380F4394877B}"/>
              </a:ext>
            </a:extLst>
          </p:cNvPr>
          <p:cNvSpPr/>
          <p:nvPr/>
        </p:nvSpPr>
        <p:spPr>
          <a:xfrm>
            <a:off x="6492445" y="3019792"/>
            <a:ext cx="5037667" cy="20489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B9794-65B0-E7E0-144D-CEB174EB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Möglichkeiten</a:t>
            </a:r>
            <a:r>
              <a:rPr lang="en-US" dirty="0"/>
              <a:t> für </a:t>
            </a:r>
            <a:r>
              <a:rPr lang="en-US" dirty="0" err="1"/>
              <a:t>Umsetzung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3E9F-0792-5C7F-EE1F-955E58027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460587"/>
            <a:ext cx="7594600" cy="310198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(Klasse)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t1 = new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MyThread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2000" dirty="0"/>
              <a:t>→ Falls </a:t>
            </a:r>
            <a:r>
              <a:rPr lang="en-US" sz="2000" dirty="0" err="1"/>
              <a:t>MyThread</a:t>
            </a:r>
            <a:r>
              <a:rPr lang="en-US" sz="2000" dirty="0"/>
              <a:t> von Thread </a:t>
            </a:r>
            <a:r>
              <a:rPr lang="en-US" sz="2000" dirty="0" err="1"/>
              <a:t>erbt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Runnable (Interface)</a:t>
            </a:r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Thread t2 = new Thread(new </a:t>
            </a:r>
            <a:r>
              <a:rPr lang="en-US" sz="2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MyRunnable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());</a:t>
            </a:r>
          </a:p>
          <a:p>
            <a:r>
              <a:rPr lang="en-US" sz="2000" dirty="0"/>
              <a:t>→Falls Runnable </a:t>
            </a:r>
            <a:r>
              <a:rPr lang="en-US" sz="2000" dirty="0" err="1"/>
              <a:t>implementiert</a:t>
            </a:r>
            <a:endParaRPr lang="en-US" sz="2000" dirty="0"/>
          </a:p>
          <a:p>
            <a:r>
              <a:rPr lang="en-US" sz="2000" dirty="0"/>
              <a:t>Hier </a:t>
            </a:r>
            <a:r>
              <a:rPr lang="en-US" sz="2000" dirty="0" err="1"/>
              <a:t>können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auch</a:t>
            </a:r>
            <a:r>
              <a:rPr lang="en-US" sz="2000" dirty="0"/>
              <a:t> von </a:t>
            </a:r>
            <a:r>
              <a:rPr lang="en-US" sz="2000" dirty="0" err="1"/>
              <a:t>anderen</a:t>
            </a:r>
            <a:r>
              <a:rPr lang="en-US" sz="2000" dirty="0"/>
              <a:t> Klassen </a:t>
            </a:r>
            <a:r>
              <a:rPr lang="en-US" sz="2000" dirty="0" err="1"/>
              <a:t>erben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EAD88-9487-ACD9-1386-0DFB6FBB641A}"/>
              </a:ext>
            </a:extLst>
          </p:cNvPr>
          <p:cNvSpPr txBox="1"/>
          <p:nvPr/>
        </p:nvSpPr>
        <p:spPr>
          <a:xfrm>
            <a:off x="6671733" y="3228651"/>
            <a:ext cx="4679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Threads </a:t>
            </a:r>
            <a:r>
              <a:rPr lang="en-US" sz="2000" dirty="0" err="1">
                <a:solidFill>
                  <a:schemeClr val="bg1"/>
                </a:solidFill>
              </a:rPr>
              <a:t>startet</a:t>
            </a:r>
            <a:r>
              <a:rPr lang="en-US" sz="2000" dirty="0">
                <a:solidFill>
                  <a:schemeClr val="bg1"/>
                </a:solidFill>
              </a:rPr>
              <a:t> man IMMER </a:t>
            </a:r>
            <a:r>
              <a:rPr lang="en-US" sz="2000" dirty="0" err="1">
                <a:solidFill>
                  <a:schemeClr val="bg1"/>
                </a:solidFill>
              </a:rPr>
              <a:t>mit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.start()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NIEMALS </a:t>
            </a:r>
            <a:r>
              <a:rPr lang="en-US" sz="2000" dirty="0" err="1">
                <a:solidFill>
                  <a:schemeClr val="accent2"/>
                </a:solidFill>
              </a:rPr>
              <a:t>mit</a:t>
            </a:r>
            <a:r>
              <a:rPr lang="en-US" sz="2000" dirty="0">
                <a:solidFill>
                  <a:schemeClr val="accent2"/>
                </a:solidFill>
              </a:rPr>
              <a:t> .run()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→ Methode </a:t>
            </a:r>
            <a:r>
              <a:rPr lang="en-US" sz="2000" dirty="0" err="1">
                <a:solidFill>
                  <a:schemeClr val="bg1"/>
                </a:solidFill>
              </a:rPr>
              <a:t>läuft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aber</a:t>
            </a:r>
            <a:r>
              <a:rPr lang="en-US" sz="2000" dirty="0">
                <a:solidFill>
                  <a:schemeClr val="bg1"/>
                </a:solidFill>
              </a:rPr>
              <a:t> nicht parallel</a:t>
            </a:r>
          </a:p>
        </p:txBody>
      </p:sp>
    </p:spTree>
    <p:extLst>
      <p:ext uri="{BB962C8B-B14F-4D97-AF65-F5344CB8AC3E}">
        <p14:creationId xmlns:p14="http://schemas.microsoft.com/office/powerpoint/2010/main" val="279129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7183-BB1B-3D99-3BDE-E227CAA3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460088-7505-EF9E-FA8F-DB05FA30D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67774"/>
              </p:ext>
            </p:extLst>
          </p:nvPr>
        </p:nvGraphicFramePr>
        <p:xfrm>
          <a:off x="1019628" y="2345547"/>
          <a:ext cx="10152744" cy="4148621"/>
        </p:xfrm>
        <a:graphic>
          <a:graphicData uri="http://schemas.openxmlformats.org/drawingml/2006/table">
            <a:tbl>
              <a:tblPr/>
              <a:tblGrid>
                <a:gridCol w="5076372">
                  <a:extLst>
                    <a:ext uri="{9D8B030D-6E8A-4147-A177-3AD203B41FA5}">
                      <a16:colId xmlns:a16="http://schemas.microsoft.com/office/drawing/2014/main" val="3079376683"/>
                    </a:ext>
                  </a:extLst>
                </a:gridCol>
                <a:gridCol w="5076372">
                  <a:extLst>
                    <a:ext uri="{9D8B030D-6E8A-4147-A177-3AD203B41FA5}">
                      <a16:colId xmlns:a16="http://schemas.microsoft.com/office/drawing/2014/main" val="4252996252"/>
                    </a:ext>
                  </a:extLst>
                </a:gridCol>
              </a:tblGrid>
              <a:tr h="131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Ebene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Erklärung</a:t>
                      </a:r>
                      <a:endParaRPr lang="en-US" sz="24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393697"/>
                  </a:ext>
                </a:extLst>
              </a:tr>
              <a:tr h="438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Programm</a:t>
                      </a:r>
                      <a:endParaRPr lang="en-US" sz="24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Dein Java-Code</a:t>
                      </a:r>
                    </a:p>
                    <a:p>
                      <a:pPr>
                        <a:buNone/>
                      </a:pP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339620"/>
                  </a:ext>
                </a:extLst>
              </a:tr>
              <a:tr h="76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Prozess</a:t>
                      </a:r>
                      <a:endParaRPr lang="en-US" sz="2400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Laufende</a:t>
                      </a:r>
                      <a:r>
                        <a:rPr lang="en-US" sz="2400" dirty="0"/>
                        <a:t> Instanz des </a:t>
                      </a:r>
                      <a:r>
                        <a:rPr lang="en-US" sz="2400" dirty="0" err="1"/>
                        <a:t>Programms</a:t>
                      </a:r>
                      <a:r>
                        <a:rPr lang="en-US" sz="2400" dirty="0"/>
                        <a:t> (z. B. JVM)</a:t>
                      </a:r>
                    </a:p>
                    <a:p>
                      <a:pPr>
                        <a:buNone/>
                      </a:pP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3763"/>
                  </a:ext>
                </a:extLst>
              </a:tr>
              <a:tr h="76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Thread</a:t>
                      </a:r>
                      <a:endParaRPr lang="en-US" sz="2400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Ausführungseinheit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innerhalb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eines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Prozesses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1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41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CEDC26-3B5B-0B4D-3327-8724E2011339}"/>
              </a:ext>
            </a:extLst>
          </p:cNvPr>
          <p:cNvSpPr/>
          <p:nvPr/>
        </p:nvSpPr>
        <p:spPr>
          <a:xfrm>
            <a:off x="196948" y="2235286"/>
            <a:ext cx="4487594" cy="41499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BD826-E049-2C94-5705-42A66BDF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42" y="289443"/>
            <a:ext cx="7729728" cy="1188720"/>
          </a:xfrm>
        </p:spPr>
        <p:txBody>
          <a:bodyPr/>
          <a:lstStyle/>
          <a:p>
            <a:r>
              <a:rPr lang="en-US" dirty="0"/>
              <a:t>States </a:t>
            </a:r>
            <a:r>
              <a:rPr lang="en-US" dirty="0" err="1"/>
              <a:t>eines</a:t>
            </a:r>
            <a:r>
              <a:rPr lang="en-US" dirty="0"/>
              <a:t> threads</a:t>
            </a:r>
          </a:p>
        </p:txBody>
      </p:sp>
      <p:pic>
        <p:nvPicPr>
          <p:cNvPr id="5" name="Content Placeholder 4" descr="A diagram of a running process&#10;&#10;AI-generated content may be incorrect.">
            <a:extLst>
              <a:ext uri="{FF2B5EF4-FFF2-40B4-BE49-F238E27FC236}">
                <a16:creationId xmlns:a16="http://schemas.microsoft.com/office/drawing/2014/main" id="{5CE8711F-99AA-BEE4-0C9F-4A9E35221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760" y="2443468"/>
            <a:ext cx="7216726" cy="393010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CFD81C-A379-F394-5C2B-1B3A19B4DAAF}"/>
              </a:ext>
            </a:extLst>
          </p:cNvPr>
          <p:cNvSpPr txBox="1"/>
          <p:nvPr/>
        </p:nvSpPr>
        <p:spPr>
          <a:xfrm>
            <a:off x="5050182" y="1797137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Der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Scheduler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 des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Betriebssystems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entscheidet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welcher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Thread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wann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läuft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webkit-standard"/>
              </a:rPr>
              <a:t>.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3457D4-122B-E7EF-264D-B8A9BFDA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14210"/>
              </p:ext>
            </p:extLst>
          </p:nvPr>
        </p:nvGraphicFramePr>
        <p:xfrm>
          <a:off x="510287" y="2602523"/>
          <a:ext cx="4075782" cy="3522504"/>
        </p:xfrm>
        <a:graphic>
          <a:graphicData uri="http://schemas.openxmlformats.org/drawingml/2006/table">
            <a:tbl>
              <a:tblPr/>
              <a:tblGrid>
                <a:gridCol w="1852258">
                  <a:extLst>
                    <a:ext uri="{9D8B030D-6E8A-4147-A177-3AD203B41FA5}">
                      <a16:colId xmlns:a16="http://schemas.microsoft.com/office/drawing/2014/main" val="1440062416"/>
                    </a:ext>
                  </a:extLst>
                </a:gridCol>
                <a:gridCol w="2223524">
                  <a:extLst>
                    <a:ext uri="{9D8B030D-6E8A-4147-A177-3AD203B41FA5}">
                      <a16:colId xmlns:a16="http://schemas.microsoft.com/office/drawing/2014/main" val="1224976714"/>
                    </a:ext>
                  </a:extLst>
                </a:gridCol>
              </a:tblGrid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Methode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Bedeutung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319437"/>
                  </a:ext>
                </a:extLst>
              </a:tr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start()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Thread starten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684578"/>
                  </a:ext>
                </a:extLst>
              </a:tr>
              <a:tr h="42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run()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Code des Threads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80366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sleep()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aktueller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Thread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wartet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4327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join()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auf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</a:rPr>
                        <a:t>anderen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 Thread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</a:rPr>
                        <a:t>warten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43110"/>
                  </a:ext>
                </a:extLst>
              </a:tr>
              <a:tr h="747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interrupt()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Abbruchsignal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senden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8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01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EBBB0-82BF-8951-DA0E-51DF18F65975}"/>
              </a:ext>
            </a:extLst>
          </p:cNvPr>
          <p:cNvSpPr/>
          <p:nvPr/>
        </p:nvSpPr>
        <p:spPr>
          <a:xfrm>
            <a:off x="5894363" y="3953022"/>
            <a:ext cx="4431323" cy="22508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5179D3-BDD4-9BC1-469A-04EB8181A24B}"/>
              </a:ext>
            </a:extLst>
          </p:cNvPr>
          <p:cNvSpPr/>
          <p:nvPr/>
        </p:nvSpPr>
        <p:spPr>
          <a:xfrm>
            <a:off x="281354" y="3938954"/>
            <a:ext cx="5289452" cy="21804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33311-CA5F-C433-8935-F27B7C0F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Synchronized()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8DFB6-54B8-241E-10C0-73C23618D664}"/>
              </a:ext>
            </a:extLst>
          </p:cNvPr>
          <p:cNvSpPr txBox="1"/>
          <p:nvPr/>
        </p:nvSpPr>
        <p:spPr>
          <a:xfrm>
            <a:off x="416169" y="2541724"/>
            <a:ext cx="501982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</a:t>
            </a:r>
            <a:r>
              <a:rPr lang="en-US" sz="2400" dirty="0"/>
              <a:t>ie </a:t>
            </a:r>
            <a:r>
              <a:rPr lang="en-US" sz="2400" dirty="0" err="1"/>
              <a:t>kann</a:t>
            </a:r>
            <a:r>
              <a:rPr lang="en-US" sz="2400" dirty="0"/>
              <a:t> man synchronized </a:t>
            </a:r>
            <a:r>
              <a:rPr lang="en-US" sz="2400" dirty="0" err="1"/>
              <a:t>benutzen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1. synchronized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 Ganze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Methoden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synchronized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void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getRessource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(){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//do something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 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B36A4-2B4D-AF2B-56FF-799D2218B6D7}"/>
              </a:ext>
            </a:extLst>
          </p:cNvPr>
          <p:cNvSpPr txBox="1"/>
          <p:nvPr/>
        </p:nvSpPr>
        <p:spPr>
          <a:xfrm>
            <a:off x="6096000" y="3218832"/>
            <a:ext cx="62671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 synchronized-Block </a:t>
            </a:r>
          </a:p>
          <a:p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synchronized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(Object o) {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//do something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349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C1DE-5907-E4C4-0144-9DBB73EC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E3A26276-82F1-20D2-9AB0-21D1B47B6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61" y="964692"/>
            <a:ext cx="11418277" cy="4398344"/>
          </a:xfrm>
        </p:spPr>
      </p:pic>
    </p:spTree>
    <p:extLst>
      <p:ext uri="{BB962C8B-B14F-4D97-AF65-F5344CB8AC3E}">
        <p14:creationId xmlns:p14="http://schemas.microsoft.com/office/powerpoint/2010/main" val="173802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B868-BCD0-A122-7B5C-54B7DC98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38937992-934D-A035-A8C0-5FBC39973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51" y="541972"/>
            <a:ext cx="11384951" cy="5774055"/>
          </a:xfrm>
        </p:spPr>
      </p:pic>
    </p:spTree>
    <p:extLst>
      <p:ext uri="{BB962C8B-B14F-4D97-AF65-F5344CB8AC3E}">
        <p14:creationId xmlns:p14="http://schemas.microsoft.com/office/powerpoint/2010/main" val="316187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D23D-DF7B-170A-20B4-EF7213EC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ob&#10;&#10;AI-generated content may be incorrect.">
            <a:extLst>
              <a:ext uri="{FF2B5EF4-FFF2-40B4-BE49-F238E27FC236}">
                <a16:creationId xmlns:a16="http://schemas.microsoft.com/office/drawing/2014/main" id="{7F5660A4-A041-BB25-4F91-56B0A20B3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984" y="689683"/>
            <a:ext cx="10800970" cy="5478634"/>
          </a:xfrm>
        </p:spPr>
      </p:pic>
    </p:spTree>
    <p:extLst>
      <p:ext uri="{BB962C8B-B14F-4D97-AF65-F5344CB8AC3E}">
        <p14:creationId xmlns:p14="http://schemas.microsoft.com/office/powerpoint/2010/main" val="175287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290C-EB8F-DE8B-38B4-87156E30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Lösung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771D5E-6A18-A4A1-8A85-0592AA328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966" y="2436182"/>
            <a:ext cx="10562043" cy="3598858"/>
          </a:xfrm>
        </p:spPr>
      </p:pic>
    </p:spTree>
    <p:extLst>
      <p:ext uri="{BB962C8B-B14F-4D97-AF65-F5344CB8AC3E}">
        <p14:creationId xmlns:p14="http://schemas.microsoft.com/office/powerpoint/2010/main" val="620736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2D8A-5658-B361-9904-22F162B1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Lösung</a:t>
            </a:r>
            <a:endParaRPr lang="en-US" dirty="0"/>
          </a:p>
        </p:txBody>
      </p:sp>
      <p:pic>
        <p:nvPicPr>
          <p:cNvPr id="5" name="Content Placeholder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DC2B635-8927-143A-AE8C-7023984BB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58" y="2513335"/>
            <a:ext cx="11335481" cy="3718652"/>
          </a:xfrm>
        </p:spPr>
      </p:pic>
    </p:spTree>
    <p:extLst>
      <p:ext uri="{BB962C8B-B14F-4D97-AF65-F5344CB8AC3E}">
        <p14:creationId xmlns:p14="http://schemas.microsoft.com/office/powerpoint/2010/main" val="149546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2729</TotalTime>
  <Words>215</Words>
  <Application>Microsoft Macintosh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Gill Sans MT</vt:lpstr>
      <vt:lpstr>Parcel</vt:lpstr>
      <vt:lpstr>Tutorial 13</vt:lpstr>
      <vt:lpstr>Concurrency </vt:lpstr>
      <vt:lpstr>Bis jetzt </vt:lpstr>
      <vt:lpstr>jetzt </vt:lpstr>
      <vt:lpstr>Möglichkeiten für Umsetzung</vt:lpstr>
      <vt:lpstr>Threads</vt:lpstr>
      <vt:lpstr>States eines threads</vt:lpstr>
      <vt:lpstr>Synchronized()</vt:lpstr>
      <vt:lpstr>PowerPoint Presentation</vt:lpstr>
      <vt:lpstr>PowerPoint Presentation</vt:lpstr>
      <vt:lpstr>PowerPoint Presentation</vt:lpstr>
      <vt:lpstr>Lösung</vt:lpstr>
      <vt:lpstr>Lösung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2026-01-20T09:03:50Z</dcterms:created>
  <dcterms:modified xsi:type="dcterms:W3CDTF">2026-01-27T15:08:36Z</dcterms:modified>
</cp:coreProperties>
</file>