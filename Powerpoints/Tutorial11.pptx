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0"/>
  </p:notesMasterIdLst>
  <p:sldIdLst>
    <p:sldId id="256" r:id="rId2"/>
    <p:sldId id="263" r:id="rId3"/>
    <p:sldId id="257" r:id="rId4"/>
    <p:sldId id="259" r:id="rId5"/>
    <p:sldId id="258" r:id="rId6"/>
    <p:sldId id="261" r:id="rId7"/>
    <p:sldId id="264" r:id="rId8"/>
    <p:sldId id="265" r:id="rId9"/>
    <p:sldId id="266" r:id="rId10"/>
    <p:sldId id="267" r:id="rId11"/>
    <p:sldId id="262" r:id="rId12"/>
    <p:sldId id="268" r:id="rId13"/>
    <p:sldId id="269" r:id="rId14"/>
    <p:sldId id="271" r:id="rId15"/>
    <p:sldId id="272" r:id="rId16"/>
    <p:sldId id="273" r:id="rId17"/>
    <p:sldId id="274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77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116602-6155-AC48-957B-BFDEC9C0BB30}" v="11" dt="2026-01-13T11:58:08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46"/>
  </p:normalViewPr>
  <p:slideViewPr>
    <p:cSldViewPr snapToGrid="0">
      <p:cViewPr varScale="1">
        <p:scale>
          <a:sx n="108" d="100"/>
          <a:sy n="108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AFC2B-2391-214D-BA57-58E69454F97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E7CA2-3B98-D94D-B611-D3DFCE91B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E7CA2-3B98-D94D-B611-D3DFCE91B7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62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3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9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24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3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28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08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5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1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8126116-4571-6D40-AABE-91C5D79D4D6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84F31E8-2181-B144-92A0-A72E4709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8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3023-69A5-29AC-4A83-26EB74C47F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FF3EF-CB3A-4E34-E1F2-F45539C668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2472230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D803-8F28-3B5A-4A26-D0EE63144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08826"/>
            <a:ext cx="7729728" cy="1188720"/>
          </a:xfrm>
        </p:spPr>
        <p:txBody>
          <a:bodyPr/>
          <a:lstStyle/>
          <a:p>
            <a:r>
              <a:rPr lang="en-US" dirty="0" err="1"/>
              <a:t>Meldet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für die </a:t>
            </a:r>
            <a:r>
              <a:rPr lang="en-US" dirty="0" err="1"/>
              <a:t>Klausur</a:t>
            </a:r>
            <a:r>
              <a:rPr lang="en-US" dirty="0"/>
              <a:t> an</a:t>
            </a:r>
          </a:p>
        </p:txBody>
      </p:sp>
    </p:spTree>
    <p:extLst>
      <p:ext uri="{BB962C8B-B14F-4D97-AF65-F5344CB8AC3E}">
        <p14:creationId xmlns:p14="http://schemas.microsoft.com/office/powerpoint/2010/main" val="196088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B72A4846-D19A-45BE-B441-25416BB57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773" y="2567730"/>
            <a:ext cx="4528860" cy="3532511"/>
          </a:xfrm>
          <a:prstGeom prst="rect">
            <a:avLst/>
          </a:prstGeom>
        </p:spPr>
      </p:pic>
      <p:sp>
        <p:nvSpPr>
          <p:cNvPr id="20" name="Frame 19">
            <a:extLst>
              <a:ext uri="{FF2B5EF4-FFF2-40B4-BE49-F238E27FC236}">
                <a16:creationId xmlns:a16="http://schemas.microsoft.com/office/drawing/2014/main" id="{8B242941-3252-3E76-54DE-5730ADF2E2B3}"/>
              </a:ext>
            </a:extLst>
          </p:cNvPr>
          <p:cNvSpPr/>
          <p:nvPr/>
        </p:nvSpPr>
        <p:spPr>
          <a:xfrm>
            <a:off x="9650200" y="3461510"/>
            <a:ext cx="759655" cy="751001"/>
          </a:xfrm>
          <a:prstGeom prst="fram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A4E490D6-586F-698B-8A39-01CB742FDF4D}"/>
              </a:ext>
            </a:extLst>
          </p:cNvPr>
          <p:cNvSpPr/>
          <p:nvPr/>
        </p:nvSpPr>
        <p:spPr>
          <a:xfrm>
            <a:off x="7948246" y="3428999"/>
            <a:ext cx="745587" cy="805375"/>
          </a:xfrm>
          <a:prstGeom prst="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5B46889B-45C2-5032-571D-A5E99B439DEB}"/>
              </a:ext>
            </a:extLst>
          </p:cNvPr>
          <p:cNvSpPr/>
          <p:nvPr/>
        </p:nvSpPr>
        <p:spPr>
          <a:xfrm>
            <a:off x="8820443" y="2785403"/>
            <a:ext cx="731520" cy="773723"/>
          </a:xfrm>
          <a:prstGeom prst="fram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414280B9-2DEE-3B88-214B-1833486798F4}"/>
              </a:ext>
            </a:extLst>
          </p:cNvPr>
          <p:cNvSpPr/>
          <p:nvPr/>
        </p:nvSpPr>
        <p:spPr>
          <a:xfrm>
            <a:off x="7371471" y="4319541"/>
            <a:ext cx="745587" cy="805375"/>
          </a:xfrm>
          <a:prstGeom prst="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E4C36CFF-08A4-4247-5211-A04213784B90}"/>
              </a:ext>
            </a:extLst>
          </p:cNvPr>
          <p:cNvSpPr/>
          <p:nvPr/>
        </p:nvSpPr>
        <p:spPr>
          <a:xfrm>
            <a:off x="7920111" y="3429000"/>
            <a:ext cx="801858" cy="805375"/>
          </a:xfrm>
          <a:prstGeom prst="fram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F76546DA-A251-274A-88A0-D54E139B53BE}"/>
              </a:ext>
            </a:extLst>
          </p:cNvPr>
          <p:cNvSpPr/>
          <p:nvPr/>
        </p:nvSpPr>
        <p:spPr>
          <a:xfrm>
            <a:off x="8566756" y="4323058"/>
            <a:ext cx="703385" cy="797663"/>
          </a:xfrm>
          <a:prstGeom prst="fram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97803239-4DCD-0CC0-A872-A3150F08972C}"/>
              </a:ext>
            </a:extLst>
          </p:cNvPr>
          <p:cNvSpPr/>
          <p:nvPr/>
        </p:nvSpPr>
        <p:spPr>
          <a:xfrm>
            <a:off x="8566755" y="4349394"/>
            <a:ext cx="703385" cy="716397"/>
          </a:xfrm>
          <a:prstGeom prst="fram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9BC81C77-307E-AAA9-9BED-0E42CF52CC33}"/>
              </a:ext>
            </a:extLst>
          </p:cNvPr>
          <p:cNvSpPr/>
          <p:nvPr/>
        </p:nvSpPr>
        <p:spPr>
          <a:xfrm>
            <a:off x="9678574" y="3485829"/>
            <a:ext cx="731282" cy="748546"/>
          </a:xfrm>
          <a:prstGeom prst="fram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E6B98F67-3B78-D98A-8014-C1BBAF578C56}"/>
              </a:ext>
            </a:extLst>
          </p:cNvPr>
          <p:cNvSpPr/>
          <p:nvPr/>
        </p:nvSpPr>
        <p:spPr>
          <a:xfrm>
            <a:off x="8990661" y="5185742"/>
            <a:ext cx="759655" cy="751001"/>
          </a:xfrm>
          <a:prstGeom prst="fram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FD977CE7-52AE-16E3-291A-B11FD3449A6E}"/>
              </a:ext>
            </a:extLst>
          </p:cNvPr>
          <p:cNvSpPr/>
          <p:nvPr/>
        </p:nvSpPr>
        <p:spPr>
          <a:xfrm>
            <a:off x="8060788" y="5095644"/>
            <a:ext cx="759655" cy="797663"/>
          </a:xfrm>
          <a:prstGeom prst="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Frame 20">
            <a:extLst>
              <a:ext uri="{FF2B5EF4-FFF2-40B4-BE49-F238E27FC236}">
                <a16:creationId xmlns:a16="http://schemas.microsoft.com/office/drawing/2014/main" id="{DD821A63-96BB-2D5E-046F-626340E2DC1F}"/>
              </a:ext>
            </a:extLst>
          </p:cNvPr>
          <p:cNvSpPr/>
          <p:nvPr/>
        </p:nvSpPr>
        <p:spPr>
          <a:xfrm>
            <a:off x="10227211" y="4319541"/>
            <a:ext cx="759655" cy="751001"/>
          </a:xfrm>
          <a:prstGeom prst="fram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ame 22">
            <a:extLst>
              <a:ext uri="{FF2B5EF4-FFF2-40B4-BE49-F238E27FC236}">
                <a16:creationId xmlns:a16="http://schemas.microsoft.com/office/drawing/2014/main" id="{AE450F42-6AF8-6B54-294D-64AA91287CF8}"/>
              </a:ext>
            </a:extLst>
          </p:cNvPr>
          <p:cNvSpPr/>
          <p:nvPr/>
        </p:nvSpPr>
        <p:spPr>
          <a:xfrm>
            <a:off x="9664265" y="5139188"/>
            <a:ext cx="759655" cy="751001"/>
          </a:xfrm>
          <a:prstGeom prst="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ame 21">
            <a:extLst>
              <a:ext uri="{FF2B5EF4-FFF2-40B4-BE49-F238E27FC236}">
                <a16:creationId xmlns:a16="http://schemas.microsoft.com/office/drawing/2014/main" id="{DF73BAA3-AE73-1700-525E-41546913A20B}"/>
              </a:ext>
            </a:extLst>
          </p:cNvPr>
          <p:cNvSpPr/>
          <p:nvPr/>
        </p:nvSpPr>
        <p:spPr>
          <a:xfrm>
            <a:off x="10227210" y="4297677"/>
            <a:ext cx="759655" cy="751001"/>
          </a:xfrm>
          <a:prstGeom prst="fram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E8D6E-8ABF-80DC-CB44-483C307C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C2F8E7-C6D5-0640-293F-1EE4E4344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39" y="2581773"/>
            <a:ext cx="6265750" cy="1294497"/>
          </a:xfrm>
        </p:spPr>
        <p:txBody>
          <a:bodyPr/>
          <a:lstStyle/>
          <a:p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Pre-order: </a:t>
            </a:r>
            <a:r>
              <a:rPr lang="en-US" sz="2000" dirty="0">
                <a:solidFill>
                  <a:schemeClr val="tx1"/>
                </a:solidFill>
              </a:rPr>
              <a:t>Wurzel, links, </a:t>
            </a:r>
            <a:r>
              <a:rPr lang="en-US" sz="2000" dirty="0" err="1">
                <a:solidFill>
                  <a:schemeClr val="tx1"/>
                </a:solidFill>
              </a:rPr>
              <a:t>rechts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In-order: </a:t>
            </a:r>
            <a:r>
              <a:rPr lang="en-US" sz="2000" dirty="0">
                <a:solidFill>
                  <a:schemeClr val="tx1"/>
                </a:solidFill>
              </a:rPr>
              <a:t>links, Wurzel, </a:t>
            </a:r>
            <a:r>
              <a:rPr lang="en-US" sz="2000" dirty="0" err="1">
                <a:solidFill>
                  <a:schemeClr val="tx1"/>
                </a:solidFill>
              </a:rPr>
              <a:t>rechts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Post-order 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tx1"/>
                </a:solidFill>
              </a:rPr>
              <a:t>links, </a:t>
            </a:r>
            <a:r>
              <a:rPr lang="en-US" sz="2000" dirty="0" err="1">
                <a:solidFill>
                  <a:schemeClr val="tx1"/>
                </a:solidFill>
              </a:rPr>
              <a:t>rechts</a:t>
            </a:r>
            <a:r>
              <a:rPr lang="en-US" sz="2000" dirty="0">
                <a:solidFill>
                  <a:schemeClr val="tx1"/>
                </a:solidFill>
              </a:rPr>
              <a:t>, Wurzel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FA136-CF68-9248-B84E-F95DFCE75C88}"/>
              </a:ext>
            </a:extLst>
          </p:cNvPr>
          <p:cNvSpPr txBox="1"/>
          <p:nvPr/>
        </p:nvSpPr>
        <p:spPr>
          <a:xfrm>
            <a:off x="476895" y="6338577"/>
            <a:ext cx="493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In-order: 1-3-4-6-7-8-10-13-14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0DCA70-A862-CE2B-C483-EB0D0FC3019E}"/>
              </a:ext>
            </a:extLst>
          </p:cNvPr>
          <p:cNvSpPr txBox="1"/>
          <p:nvPr/>
        </p:nvSpPr>
        <p:spPr>
          <a:xfrm>
            <a:off x="685564" y="4488511"/>
            <a:ext cx="56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8 -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CC4E5E-FFC8-B799-BDFC-916988B13DE1}"/>
              </a:ext>
            </a:extLst>
          </p:cNvPr>
          <p:cNvSpPr txBox="1"/>
          <p:nvPr/>
        </p:nvSpPr>
        <p:spPr>
          <a:xfrm>
            <a:off x="1023894" y="4500049"/>
            <a:ext cx="449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5C0E29-C4BB-ABEC-DEF2-1E7B007B2C0D}"/>
              </a:ext>
            </a:extLst>
          </p:cNvPr>
          <p:cNvSpPr txBox="1"/>
          <p:nvPr/>
        </p:nvSpPr>
        <p:spPr>
          <a:xfrm>
            <a:off x="1248044" y="4495595"/>
            <a:ext cx="121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8D4424-7701-497C-D7D9-5EF5D301D06E}"/>
              </a:ext>
            </a:extLst>
          </p:cNvPr>
          <p:cNvSpPr txBox="1"/>
          <p:nvPr/>
        </p:nvSpPr>
        <p:spPr>
          <a:xfrm>
            <a:off x="1503137" y="4510580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6-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0297CD-FA0F-6DCB-C2EB-FE43353F6388}"/>
              </a:ext>
            </a:extLst>
          </p:cNvPr>
          <p:cNvSpPr txBox="1"/>
          <p:nvPr/>
        </p:nvSpPr>
        <p:spPr>
          <a:xfrm>
            <a:off x="1782261" y="4504270"/>
            <a:ext cx="55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3E399F-114A-B05A-DC18-884A7D59CBD5}"/>
              </a:ext>
            </a:extLst>
          </p:cNvPr>
          <p:cNvSpPr txBox="1"/>
          <p:nvPr/>
        </p:nvSpPr>
        <p:spPr>
          <a:xfrm>
            <a:off x="2080029" y="4504270"/>
            <a:ext cx="50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7-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05437C-6B26-BF04-4DF8-44CA120C99A9}"/>
              </a:ext>
            </a:extLst>
          </p:cNvPr>
          <p:cNvSpPr txBox="1"/>
          <p:nvPr/>
        </p:nvSpPr>
        <p:spPr>
          <a:xfrm>
            <a:off x="2346963" y="453989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59E014-3BF9-C10A-DCBD-F2EA83E4DD65}"/>
              </a:ext>
            </a:extLst>
          </p:cNvPr>
          <p:cNvSpPr txBox="1"/>
          <p:nvPr/>
        </p:nvSpPr>
        <p:spPr>
          <a:xfrm>
            <a:off x="2768409" y="4519498"/>
            <a:ext cx="535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14-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03D51F-851E-63DB-C479-4AAB3C3850D7}"/>
              </a:ext>
            </a:extLst>
          </p:cNvPr>
          <p:cNvSpPr txBox="1"/>
          <p:nvPr/>
        </p:nvSpPr>
        <p:spPr>
          <a:xfrm>
            <a:off x="3122796" y="4519498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13-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6124B1-E2ED-D65F-EDDE-15DB003599C1}"/>
              </a:ext>
            </a:extLst>
          </p:cNvPr>
          <p:cNvSpPr txBox="1"/>
          <p:nvPr/>
        </p:nvSpPr>
        <p:spPr>
          <a:xfrm>
            <a:off x="718272" y="4124407"/>
            <a:ext cx="132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Pre-order: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D3879-4F6E-77A7-9BE4-3D73DC78104F}"/>
              </a:ext>
            </a:extLst>
          </p:cNvPr>
          <p:cNvSpPr txBox="1"/>
          <p:nvPr/>
        </p:nvSpPr>
        <p:spPr>
          <a:xfrm>
            <a:off x="528242" y="548239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effectLst/>
                <a:latin typeface="Arial" panose="020B0604020202020204" pitchFamily="34" charset="0"/>
              </a:rPr>
              <a:t> (8) – (3-1-6-4-7) – (10-14-13)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D417E2-B574-AA42-B68E-33397FFEF7A6}"/>
              </a:ext>
            </a:extLst>
          </p:cNvPr>
          <p:cNvSpPr txBox="1"/>
          <p:nvPr/>
        </p:nvSpPr>
        <p:spPr>
          <a:xfrm>
            <a:off x="358024" y="5003602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Wurzel   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Links</a:t>
            </a:r>
            <a:r>
              <a:rPr lang="en-US" sz="2800" dirty="0"/>
              <a:t>	    	   </a:t>
            </a:r>
            <a:r>
              <a:rPr lang="en-US" sz="28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rechts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9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1" grpId="0" animBg="1"/>
      <p:bldP spid="8" grpId="0" animBg="1"/>
      <p:bldP spid="12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3" grpId="0" animBg="1"/>
      <p:bldP spid="22" grpId="0" animBg="1"/>
      <p:bldP spid="24" grpId="0"/>
      <p:bldP spid="26" grpId="0"/>
      <p:bldP spid="27" grpId="0"/>
      <p:bldP spid="28" grpId="0"/>
      <p:bldP spid="29" grpId="0"/>
      <p:bldP spid="30" grpId="0"/>
      <p:bldP spid="33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9426-93FF-1F0B-6C14-C642CBB2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27380-D413-2E3E-48DE-EF05F4E14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863" y="4257221"/>
            <a:ext cx="5266944" cy="779013"/>
          </a:xfrm>
        </p:spPr>
        <p:txBody>
          <a:bodyPr/>
          <a:lstStyle/>
          <a:p>
            <a:r>
              <a:rPr lang="en-US" sz="2400" dirty="0"/>
              <a:t>Post-order:</a:t>
            </a:r>
            <a:endParaRPr lang="en-US" dirty="0"/>
          </a:p>
        </p:txBody>
      </p:sp>
      <p:pic>
        <p:nvPicPr>
          <p:cNvPr id="4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9385615E-641B-A3E8-6346-FCF89D7F3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773" y="2567730"/>
            <a:ext cx="4528860" cy="35325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748BC-A450-5C09-71D6-9CCF966A09C1}"/>
              </a:ext>
            </a:extLst>
          </p:cNvPr>
          <p:cNvSpPr txBox="1"/>
          <p:nvPr/>
        </p:nvSpPr>
        <p:spPr>
          <a:xfrm>
            <a:off x="500811" y="2493049"/>
            <a:ext cx="6098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Pre-order: </a:t>
            </a:r>
            <a:r>
              <a:rPr lang="en-US" sz="2400" dirty="0">
                <a:solidFill>
                  <a:schemeClr val="tx1"/>
                </a:solidFill>
              </a:rPr>
              <a:t>Wurzel, links, </a:t>
            </a:r>
            <a:r>
              <a:rPr lang="en-US" sz="2400" dirty="0" err="1">
                <a:solidFill>
                  <a:schemeClr val="tx1"/>
                </a:solidFill>
              </a:rPr>
              <a:t>rechts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In-order: </a:t>
            </a:r>
            <a:r>
              <a:rPr lang="en-US" sz="2400" dirty="0">
                <a:solidFill>
                  <a:schemeClr val="tx1"/>
                </a:solidFill>
              </a:rPr>
              <a:t>links, Wurzel, </a:t>
            </a:r>
            <a:r>
              <a:rPr lang="en-US" sz="2400" dirty="0" err="1">
                <a:solidFill>
                  <a:schemeClr val="tx1"/>
                </a:solidFill>
              </a:rPr>
              <a:t>rechts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Post-order 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tx1"/>
                </a:solidFill>
              </a:rPr>
              <a:t>links, </a:t>
            </a:r>
            <a:r>
              <a:rPr lang="en-US" sz="2400" dirty="0" err="1">
                <a:solidFill>
                  <a:schemeClr val="tx1"/>
                </a:solidFill>
              </a:rPr>
              <a:t>rechts</a:t>
            </a:r>
            <a:r>
              <a:rPr lang="en-US" sz="2400" dirty="0">
                <a:solidFill>
                  <a:schemeClr val="tx1"/>
                </a:solidFill>
              </a:rPr>
              <a:t>, Wurzel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E3458344-115A-6141-8698-5AE88F92E9AB}"/>
              </a:ext>
            </a:extLst>
          </p:cNvPr>
          <p:cNvSpPr/>
          <p:nvPr/>
        </p:nvSpPr>
        <p:spPr>
          <a:xfrm>
            <a:off x="8778240" y="2700997"/>
            <a:ext cx="844062" cy="99238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D047E02C-80F7-FB08-8412-B59DD570D923}"/>
              </a:ext>
            </a:extLst>
          </p:cNvPr>
          <p:cNvSpPr/>
          <p:nvPr/>
        </p:nvSpPr>
        <p:spPr>
          <a:xfrm>
            <a:off x="7906043" y="3429000"/>
            <a:ext cx="872197" cy="82822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6E6B1047-C230-B6A4-47DB-5E60787F4800}"/>
              </a:ext>
            </a:extLst>
          </p:cNvPr>
          <p:cNvSpPr/>
          <p:nvPr/>
        </p:nvSpPr>
        <p:spPr>
          <a:xfrm>
            <a:off x="7315200" y="4333985"/>
            <a:ext cx="900332" cy="81479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AA5F5C1C-3BFE-DF03-A5F7-7041418BEF32}"/>
              </a:ext>
            </a:extLst>
          </p:cNvPr>
          <p:cNvSpPr/>
          <p:nvPr/>
        </p:nvSpPr>
        <p:spPr>
          <a:xfrm>
            <a:off x="7315200" y="4333985"/>
            <a:ext cx="900332" cy="814790"/>
          </a:xfrm>
          <a:prstGeom prst="fram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204BA90D-91DD-E787-6DFC-ADA18EC8E6D1}"/>
              </a:ext>
            </a:extLst>
          </p:cNvPr>
          <p:cNvSpPr/>
          <p:nvPr/>
        </p:nvSpPr>
        <p:spPr>
          <a:xfrm>
            <a:off x="8454683" y="4333985"/>
            <a:ext cx="914400" cy="81479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864E055D-89A8-0051-CDF7-DE878E4814DE}"/>
              </a:ext>
            </a:extLst>
          </p:cNvPr>
          <p:cNvSpPr/>
          <p:nvPr/>
        </p:nvSpPr>
        <p:spPr>
          <a:xfrm>
            <a:off x="8018585" y="5148775"/>
            <a:ext cx="773723" cy="744533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66035E7C-B04F-738A-3690-B56149A044AD}"/>
              </a:ext>
            </a:extLst>
          </p:cNvPr>
          <p:cNvSpPr/>
          <p:nvPr/>
        </p:nvSpPr>
        <p:spPr>
          <a:xfrm>
            <a:off x="8018585" y="5148775"/>
            <a:ext cx="773723" cy="744533"/>
          </a:xfrm>
          <a:prstGeom prst="fram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F2A8728A-5B57-0B15-ACFA-88C0502CCD64}"/>
              </a:ext>
            </a:extLst>
          </p:cNvPr>
          <p:cNvSpPr/>
          <p:nvPr/>
        </p:nvSpPr>
        <p:spPr>
          <a:xfrm>
            <a:off x="8911883" y="5148775"/>
            <a:ext cx="865163" cy="744533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3F2D68A3-56DB-1E82-C210-3A96B83B341B}"/>
              </a:ext>
            </a:extLst>
          </p:cNvPr>
          <p:cNvSpPr/>
          <p:nvPr/>
        </p:nvSpPr>
        <p:spPr>
          <a:xfrm>
            <a:off x="8911883" y="5148775"/>
            <a:ext cx="865163" cy="744533"/>
          </a:xfrm>
          <a:prstGeom prst="fram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75BB0A2E-D8BC-4DE5-5693-593470EAC94C}"/>
              </a:ext>
            </a:extLst>
          </p:cNvPr>
          <p:cNvSpPr/>
          <p:nvPr/>
        </p:nvSpPr>
        <p:spPr>
          <a:xfrm>
            <a:off x="9636370" y="3429000"/>
            <a:ext cx="844062" cy="82822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08766C7A-6AD8-31CD-A5CD-FFC44044FF43}"/>
              </a:ext>
            </a:extLst>
          </p:cNvPr>
          <p:cNvSpPr/>
          <p:nvPr/>
        </p:nvSpPr>
        <p:spPr>
          <a:xfrm>
            <a:off x="10170942" y="4333985"/>
            <a:ext cx="802326" cy="702249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2115362D-ABBB-8FAE-E545-B741BA2E53EE}"/>
              </a:ext>
            </a:extLst>
          </p:cNvPr>
          <p:cNvSpPr/>
          <p:nvPr/>
        </p:nvSpPr>
        <p:spPr>
          <a:xfrm>
            <a:off x="9706708" y="5148775"/>
            <a:ext cx="773724" cy="744533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ame 18">
            <a:extLst>
              <a:ext uri="{FF2B5EF4-FFF2-40B4-BE49-F238E27FC236}">
                <a16:creationId xmlns:a16="http://schemas.microsoft.com/office/drawing/2014/main" id="{607F5027-44E0-AF2E-0D70-0EB2C4EA3182}"/>
              </a:ext>
            </a:extLst>
          </p:cNvPr>
          <p:cNvSpPr/>
          <p:nvPr/>
        </p:nvSpPr>
        <p:spPr>
          <a:xfrm>
            <a:off x="9706708" y="5148775"/>
            <a:ext cx="773724" cy="744533"/>
          </a:xfrm>
          <a:prstGeom prst="fram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rame 19">
            <a:extLst>
              <a:ext uri="{FF2B5EF4-FFF2-40B4-BE49-F238E27FC236}">
                <a16:creationId xmlns:a16="http://schemas.microsoft.com/office/drawing/2014/main" id="{55190396-89B3-DF59-BDBD-23C64050F50D}"/>
              </a:ext>
            </a:extLst>
          </p:cNvPr>
          <p:cNvSpPr/>
          <p:nvPr/>
        </p:nvSpPr>
        <p:spPr>
          <a:xfrm>
            <a:off x="8454683" y="4333985"/>
            <a:ext cx="914400" cy="814790"/>
          </a:xfrm>
          <a:prstGeom prst="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Frame 20">
            <a:extLst>
              <a:ext uri="{FF2B5EF4-FFF2-40B4-BE49-F238E27FC236}">
                <a16:creationId xmlns:a16="http://schemas.microsoft.com/office/drawing/2014/main" id="{EF0EC1AD-6AD8-6DE4-A41D-0E8AD11388F6}"/>
              </a:ext>
            </a:extLst>
          </p:cNvPr>
          <p:cNvSpPr/>
          <p:nvPr/>
        </p:nvSpPr>
        <p:spPr>
          <a:xfrm>
            <a:off x="7906043" y="3429000"/>
            <a:ext cx="886265" cy="828221"/>
          </a:xfrm>
          <a:prstGeom prst="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ame 21">
            <a:extLst>
              <a:ext uri="{FF2B5EF4-FFF2-40B4-BE49-F238E27FC236}">
                <a16:creationId xmlns:a16="http://schemas.microsoft.com/office/drawing/2014/main" id="{160066FD-C3F1-D238-261B-16BA087B113A}"/>
              </a:ext>
            </a:extLst>
          </p:cNvPr>
          <p:cNvSpPr/>
          <p:nvPr/>
        </p:nvSpPr>
        <p:spPr>
          <a:xfrm>
            <a:off x="10170942" y="4333985"/>
            <a:ext cx="802326" cy="702249"/>
          </a:xfrm>
          <a:prstGeom prst="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ame 22">
            <a:extLst>
              <a:ext uri="{FF2B5EF4-FFF2-40B4-BE49-F238E27FC236}">
                <a16:creationId xmlns:a16="http://schemas.microsoft.com/office/drawing/2014/main" id="{E467DD32-572A-855C-71A7-40573A61F72B}"/>
              </a:ext>
            </a:extLst>
          </p:cNvPr>
          <p:cNvSpPr/>
          <p:nvPr/>
        </p:nvSpPr>
        <p:spPr>
          <a:xfrm>
            <a:off x="9636370" y="3429000"/>
            <a:ext cx="844062" cy="828221"/>
          </a:xfrm>
          <a:prstGeom prst="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ame 23">
            <a:extLst>
              <a:ext uri="{FF2B5EF4-FFF2-40B4-BE49-F238E27FC236}">
                <a16:creationId xmlns:a16="http://schemas.microsoft.com/office/drawing/2014/main" id="{6A61C254-725E-C181-8EA4-B3E02371171F}"/>
              </a:ext>
            </a:extLst>
          </p:cNvPr>
          <p:cNvSpPr/>
          <p:nvPr/>
        </p:nvSpPr>
        <p:spPr>
          <a:xfrm>
            <a:off x="8778240" y="2700997"/>
            <a:ext cx="844062" cy="992381"/>
          </a:xfrm>
          <a:prstGeom prst="fram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6031C8-8D8D-68D8-4C9A-232F5216D6D0}"/>
              </a:ext>
            </a:extLst>
          </p:cNvPr>
          <p:cNvSpPr txBox="1"/>
          <p:nvPr/>
        </p:nvSpPr>
        <p:spPr>
          <a:xfrm>
            <a:off x="500811" y="4741380"/>
            <a:ext cx="541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1 -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78AA34-0290-04FB-C952-6A3C96E341B2}"/>
              </a:ext>
            </a:extLst>
          </p:cNvPr>
          <p:cNvSpPr txBox="1"/>
          <p:nvPr/>
        </p:nvSpPr>
        <p:spPr>
          <a:xfrm>
            <a:off x="867039" y="4755448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BAD658-8B38-9ECE-A5F0-20783BC41596}"/>
              </a:ext>
            </a:extLst>
          </p:cNvPr>
          <p:cNvSpPr txBox="1"/>
          <p:nvPr/>
        </p:nvSpPr>
        <p:spPr>
          <a:xfrm>
            <a:off x="1218731" y="4755448"/>
            <a:ext cx="82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7 -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0CE55F-6BA2-FD84-C3EE-C031BA158FB1}"/>
              </a:ext>
            </a:extLst>
          </p:cNvPr>
          <p:cNvSpPr txBox="1"/>
          <p:nvPr/>
        </p:nvSpPr>
        <p:spPr>
          <a:xfrm>
            <a:off x="1629507" y="4755448"/>
            <a:ext cx="82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6 -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BF6C2-3920-DB6E-BE80-C2424C4B32DC}"/>
              </a:ext>
            </a:extLst>
          </p:cNvPr>
          <p:cNvSpPr txBox="1"/>
          <p:nvPr/>
        </p:nvSpPr>
        <p:spPr>
          <a:xfrm>
            <a:off x="2036298" y="4755448"/>
            <a:ext cx="123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3 -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11940D-6B4C-2947-C55C-EAF561A91E98}"/>
              </a:ext>
            </a:extLst>
          </p:cNvPr>
          <p:cNvSpPr txBox="1"/>
          <p:nvPr/>
        </p:nvSpPr>
        <p:spPr>
          <a:xfrm>
            <a:off x="2433711" y="4769515"/>
            <a:ext cx="74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13 -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5FF05B-D240-0BE1-ACAB-E1BD593BBEB6}"/>
              </a:ext>
            </a:extLst>
          </p:cNvPr>
          <p:cNvSpPr txBox="1"/>
          <p:nvPr/>
        </p:nvSpPr>
        <p:spPr>
          <a:xfrm>
            <a:off x="2868635" y="4779443"/>
            <a:ext cx="57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14 -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DE0320-2BC9-2905-C1AA-FFD729765419}"/>
              </a:ext>
            </a:extLst>
          </p:cNvPr>
          <p:cNvSpPr txBox="1"/>
          <p:nvPr/>
        </p:nvSpPr>
        <p:spPr>
          <a:xfrm>
            <a:off x="3305909" y="4769515"/>
            <a:ext cx="57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10 -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AC501C-BD2C-87C5-612C-74AF43085631}"/>
              </a:ext>
            </a:extLst>
          </p:cNvPr>
          <p:cNvSpPr txBox="1"/>
          <p:nvPr/>
        </p:nvSpPr>
        <p:spPr>
          <a:xfrm>
            <a:off x="3798979" y="4782528"/>
            <a:ext cx="57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8 -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206647-576D-072D-222F-55521D46EDBA}"/>
              </a:ext>
            </a:extLst>
          </p:cNvPr>
          <p:cNvSpPr txBox="1"/>
          <p:nvPr/>
        </p:nvSpPr>
        <p:spPr>
          <a:xfrm>
            <a:off x="771379" y="5691570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(1-4-7-6-3) </a:t>
            </a:r>
            <a:r>
              <a:rPr lang="en-US" sz="2400" dirty="0"/>
              <a:t>- 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(13-14-10) </a:t>
            </a:r>
            <a:r>
              <a:rPr lang="en-US" sz="2400" dirty="0"/>
              <a:t>- 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(8)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A4FDA0-7547-4F9E-791C-221EEFB5C748}"/>
              </a:ext>
            </a:extLst>
          </p:cNvPr>
          <p:cNvSpPr txBox="1"/>
          <p:nvPr/>
        </p:nvSpPr>
        <p:spPr>
          <a:xfrm>
            <a:off x="1218731" y="5280891"/>
            <a:ext cx="4732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Links</a:t>
            </a:r>
            <a:r>
              <a:rPr lang="en-US" sz="2800" dirty="0"/>
              <a:t>	    </a:t>
            </a:r>
            <a:r>
              <a:rPr lang="en-US" sz="28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rechts</a:t>
            </a:r>
            <a:r>
              <a:rPr lang="en-US" sz="2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800" dirty="0"/>
              <a:t>  </a:t>
            </a:r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Wurzel</a:t>
            </a:r>
          </a:p>
        </p:txBody>
      </p:sp>
    </p:spTree>
    <p:extLst>
      <p:ext uri="{BB962C8B-B14F-4D97-AF65-F5344CB8AC3E}">
        <p14:creationId xmlns:p14="http://schemas.microsoft.com/office/powerpoint/2010/main" val="53276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9" grpId="0"/>
      <p:bldP spid="30" grpId="0"/>
      <p:bldP spid="31" grpId="0"/>
      <p:bldP spid="32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67E3-295A-E92A-A715-5A836087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- TODO</a:t>
            </a:r>
          </a:p>
        </p:txBody>
      </p:sp>
      <p:pic>
        <p:nvPicPr>
          <p:cNvPr id="1030" name="Picture 6" descr="Binary Trees">
            <a:extLst>
              <a:ext uri="{FF2B5EF4-FFF2-40B4-BE49-F238E27FC236}">
                <a16:creationId xmlns:a16="http://schemas.microsoft.com/office/drawing/2014/main" id="{F4266F11-6B65-C705-8181-36C8200776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5211910" y="2557776"/>
            <a:ext cx="6003957" cy="333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BCA205-028A-18BE-37F6-9EA89F6512A9}"/>
              </a:ext>
            </a:extLst>
          </p:cNvPr>
          <p:cNvSpPr txBox="1"/>
          <p:nvPr/>
        </p:nvSpPr>
        <p:spPr>
          <a:xfrm>
            <a:off x="986683" y="4692979"/>
            <a:ext cx="3038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In-order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Pre-order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Post-order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437323-052C-A5FA-A064-EF5DA67CF4C7}"/>
              </a:ext>
            </a:extLst>
          </p:cNvPr>
          <p:cNvSpPr txBox="1"/>
          <p:nvPr/>
        </p:nvSpPr>
        <p:spPr>
          <a:xfrm>
            <a:off x="976133" y="2787972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Pre-order: </a:t>
            </a:r>
            <a:r>
              <a:rPr lang="en-US" sz="1800" dirty="0">
                <a:solidFill>
                  <a:schemeClr val="tx1"/>
                </a:solidFill>
              </a:rPr>
              <a:t>Wurzel, links, </a:t>
            </a:r>
            <a:r>
              <a:rPr lang="en-US" sz="1800" dirty="0" err="1">
                <a:solidFill>
                  <a:schemeClr val="tx1"/>
                </a:solidFill>
              </a:rPr>
              <a:t>rechts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In-order: </a:t>
            </a:r>
            <a:r>
              <a:rPr lang="en-US" sz="1800" dirty="0">
                <a:solidFill>
                  <a:schemeClr val="tx1"/>
                </a:solidFill>
              </a:rPr>
              <a:t>links, Wurzel, </a:t>
            </a:r>
            <a:r>
              <a:rPr lang="en-US" sz="1800" dirty="0" err="1">
                <a:solidFill>
                  <a:schemeClr val="tx1"/>
                </a:solidFill>
              </a:rPr>
              <a:t>rechts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Post-order </a:t>
            </a:r>
            <a:r>
              <a:rPr lang="en-US" sz="1800" dirty="0"/>
              <a:t>: </a:t>
            </a:r>
            <a:r>
              <a:rPr lang="en-US" sz="1800" dirty="0">
                <a:solidFill>
                  <a:schemeClr val="tx1"/>
                </a:solidFill>
              </a:rPr>
              <a:t>links, </a:t>
            </a:r>
            <a:r>
              <a:rPr lang="en-US" sz="1800" dirty="0" err="1">
                <a:solidFill>
                  <a:schemeClr val="tx1"/>
                </a:solidFill>
              </a:rPr>
              <a:t>rechts</a:t>
            </a:r>
            <a:r>
              <a:rPr lang="en-US" sz="1800" dirty="0">
                <a:solidFill>
                  <a:schemeClr val="tx1"/>
                </a:solidFill>
              </a:rPr>
              <a:t>, Wurzel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89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ADF0-7D1D-544E-F6F1-F93946F4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DF53-7EC9-CD69-6832-1718CAF0F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pic>
        <p:nvPicPr>
          <p:cNvPr id="1030" name="Picture 6" descr="Binary Trees">
            <a:extLst>
              <a:ext uri="{FF2B5EF4-FFF2-40B4-BE49-F238E27FC236}">
                <a16:creationId xmlns:a16="http://schemas.microsoft.com/office/drawing/2014/main" id="{2D61CF34-CBB4-16D6-750C-FFAC10E3D9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188591" y="2403031"/>
            <a:ext cx="4911366" cy="293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E25CA5-84FE-EBA6-BC3F-B8F8B5D6DE5C}"/>
              </a:ext>
            </a:extLst>
          </p:cNvPr>
          <p:cNvSpPr txBox="1"/>
          <p:nvPr/>
        </p:nvSpPr>
        <p:spPr>
          <a:xfrm>
            <a:off x="711823" y="4345862"/>
            <a:ext cx="64767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In-order: 4,  5,  6,  8,  10,  17,  19,   31,  43,  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Pre-order: 10,  6,  4,  5,  8,  19,  17,  43,  31,  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Post-order: 5,  4,  8,  6,  17,  31,  49,  43,  19,  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9D4269-F513-F796-D395-6539469C9742}"/>
              </a:ext>
            </a:extLst>
          </p:cNvPr>
          <p:cNvSpPr txBox="1"/>
          <p:nvPr/>
        </p:nvSpPr>
        <p:spPr>
          <a:xfrm>
            <a:off x="711823" y="2512138"/>
            <a:ext cx="6098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Pre-order: </a:t>
            </a:r>
            <a:r>
              <a:rPr lang="en-US" sz="2400" dirty="0">
                <a:solidFill>
                  <a:schemeClr val="tx1"/>
                </a:solidFill>
              </a:rPr>
              <a:t>Wurzel, links, </a:t>
            </a:r>
            <a:r>
              <a:rPr lang="en-US" sz="2400" dirty="0" err="1">
                <a:solidFill>
                  <a:schemeClr val="tx1"/>
                </a:solidFill>
              </a:rPr>
              <a:t>rechts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In-order: </a:t>
            </a:r>
            <a:r>
              <a:rPr lang="en-US" sz="2400" dirty="0">
                <a:solidFill>
                  <a:schemeClr val="tx1"/>
                </a:solidFill>
              </a:rPr>
              <a:t>links, Wurzel, </a:t>
            </a:r>
            <a:r>
              <a:rPr lang="en-US" sz="2400" dirty="0" err="1">
                <a:solidFill>
                  <a:schemeClr val="tx1"/>
                </a:solidFill>
              </a:rPr>
              <a:t>rechts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Post-order 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tx1"/>
                </a:solidFill>
              </a:rPr>
              <a:t>links, </a:t>
            </a:r>
            <a:r>
              <a:rPr lang="en-US" sz="2400" dirty="0" err="1">
                <a:solidFill>
                  <a:schemeClr val="tx1"/>
                </a:solidFill>
              </a:rPr>
              <a:t>rechts</a:t>
            </a:r>
            <a:r>
              <a:rPr lang="en-US" sz="2400" dirty="0">
                <a:solidFill>
                  <a:schemeClr val="tx1"/>
                </a:solidFill>
              </a:rPr>
              <a:t>, Wurzel</a:t>
            </a:r>
          </a:p>
        </p:txBody>
      </p:sp>
    </p:spTree>
    <p:extLst>
      <p:ext uri="{BB962C8B-B14F-4D97-AF65-F5344CB8AC3E}">
        <p14:creationId xmlns:p14="http://schemas.microsoft.com/office/powerpoint/2010/main" val="147726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41E1-B1F2-0A67-2061-FB4AC714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260CE2A-33C6-BF8A-C688-4C4B5A0BA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893" y="661548"/>
            <a:ext cx="11079300" cy="5534904"/>
          </a:xfrm>
        </p:spPr>
      </p:pic>
    </p:spTree>
    <p:extLst>
      <p:ext uri="{BB962C8B-B14F-4D97-AF65-F5344CB8AC3E}">
        <p14:creationId xmlns:p14="http://schemas.microsoft.com/office/powerpoint/2010/main" val="63892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543A-64DB-9524-4210-6D9F95D7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E38C04-F23C-504B-452C-E6CDE05D4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721" y="405433"/>
            <a:ext cx="10494557" cy="6047134"/>
          </a:xfrm>
        </p:spPr>
      </p:pic>
    </p:spTree>
    <p:extLst>
      <p:ext uri="{BB962C8B-B14F-4D97-AF65-F5344CB8AC3E}">
        <p14:creationId xmlns:p14="http://schemas.microsoft.com/office/powerpoint/2010/main" val="3530367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2EBE4-1A67-B396-5A00-3EFEB9897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dirty="0"/>
              <a:t>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E1729-98E1-FD10-37F9-0FBB39386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r>
              <a:rPr lang="en-US" dirty="0"/>
              <a:t>Key - Value Paar? →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Map</a:t>
            </a:r>
          </a:p>
          <a:p>
            <a:r>
              <a:rPr lang="en-US" dirty="0" err="1"/>
              <a:t>Sortiert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Einfügen</a:t>
            </a:r>
            <a:r>
              <a:rPr lang="en-US" dirty="0"/>
              <a:t>? →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Tree</a:t>
            </a:r>
          </a:p>
          <a:p>
            <a:r>
              <a:rPr lang="en-US" dirty="0"/>
              <a:t>Keine </a:t>
            </a:r>
            <a:r>
              <a:rPr lang="en-US" dirty="0" err="1"/>
              <a:t>doppelten</a:t>
            </a:r>
            <a:r>
              <a:rPr lang="en-US" dirty="0"/>
              <a:t> </a:t>
            </a:r>
            <a:r>
              <a:rPr lang="en-US" dirty="0" err="1"/>
              <a:t>Werte</a:t>
            </a:r>
            <a:r>
              <a:rPr lang="en-US" dirty="0"/>
              <a:t>? →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Set</a:t>
            </a:r>
          </a:p>
          <a:p>
            <a:r>
              <a:rPr lang="en-US" dirty="0" err="1"/>
              <a:t>Eher</a:t>
            </a:r>
            <a:r>
              <a:rPr lang="en-US" dirty="0"/>
              <a:t> </a:t>
            </a:r>
            <a:r>
              <a:rPr lang="en-US" dirty="0" err="1"/>
              <a:t>selten</a:t>
            </a:r>
            <a:r>
              <a:rPr lang="en-US" dirty="0"/>
              <a:t> </a:t>
            </a:r>
            <a:r>
              <a:rPr lang="en-US" dirty="0" err="1"/>
              <a:t>Werte</a:t>
            </a:r>
            <a:r>
              <a:rPr lang="en-US" dirty="0"/>
              <a:t> </a:t>
            </a:r>
            <a:r>
              <a:rPr lang="en-US" dirty="0" err="1"/>
              <a:t>einfügen</a:t>
            </a:r>
            <a:r>
              <a:rPr lang="en-US" dirty="0"/>
              <a:t>/</a:t>
            </a:r>
            <a:r>
              <a:rPr lang="en-US" dirty="0" err="1"/>
              <a:t>löschen</a:t>
            </a:r>
            <a:r>
              <a:rPr lang="en-US" dirty="0"/>
              <a:t>? →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Array</a:t>
            </a:r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14522A-C691-4F68-84C3-4ABAD2F7B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A2F9AC-B2D0-4F61-B15D-48754CA25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java map&#10;&#10;AI-generated content may be incorrect.">
            <a:extLst>
              <a:ext uri="{FF2B5EF4-FFF2-40B4-BE49-F238E27FC236}">
                <a16:creationId xmlns:a16="http://schemas.microsoft.com/office/drawing/2014/main" id="{36DADD5E-9C49-49D5-B0B8-8D3E197C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889" y="1293275"/>
            <a:ext cx="6202018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7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78D1-862C-E968-CD48-0A4C23FE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5C8B6-B62B-74F4-238F-6332765D1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/>
              <a:t>ArrayList</a:t>
            </a:r>
            <a:r>
              <a:rPr lang="en-US" sz="2400" dirty="0"/>
              <a:t> </a:t>
            </a:r>
            <a:r>
              <a:rPr lang="en-US" sz="2800" dirty="0" err="1"/>
              <a:t>arrayList</a:t>
            </a:r>
            <a:r>
              <a:rPr lang="en-US" sz="2400" dirty="0"/>
              <a:t> = new </a:t>
            </a:r>
            <a:r>
              <a:rPr lang="en-US" sz="2400" dirty="0" err="1"/>
              <a:t>ArrayList</a:t>
            </a:r>
            <a:r>
              <a:rPr lang="en-US" sz="2400" dirty="0"/>
              <a:t> ();</a:t>
            </a:r>
          </a:p>
          <a:p>
            <a:endParaRPr lang="en-US" dirty="0"/>
          </a:p>
        </p:txBody>
      </p:sp>
      <p:pic>
        <p:nvPicPr>
          <p:cNvPr id="5" name="Picture 4" descr="A number in a square&#10;&#10;AI-generated content may be incorrect.">
            <a:extLst>
              <a:ext uri="{FF2B5EF4-FFF2-40B4-BE49-F238E27FC236}">
                <a16:creationId xmlns:a16="http://schemas.microsoft.com/office/drawing/2014/main" id="{CB32D249-DBC4-B1B6-4A03-65F8148A9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538" y="4044950"/>
            <a:ext cx="67183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36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A654-D32F-5FA0-5FFA-54AA62E4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– Wrapper Klassen</a:t>
            </a:r>
          </a:p>
        </p:txBody>
      </p:sp>
      <p:pic>
        <p:nvPicPr>
          <p:cNvPr id="5" name="Content Placeholder 4" descr="A diagram of a number&#10;&#10;AI-generated content may be incorrect.">
            <a:extLst>
              <a:ext uri="{FF2B5EF4-FFF2-40B4-BE49-F238E27FC236}">
                <a16:creationId xmlns:a16="http://schemas.microsoft.com/office/drawing/2014/main" id="{F476A13D-D21F-6201-F308-940D333D1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260" y="2394605"/>
            <a:ext cx="8195480" cy="3992670"/>
          </a:xfrm>
        </p:spPr>
      </p:pic>
    </p:spTree>
    <p:extLst>
      <p:ext uri="{BB962C8B-B14F-4D97-AF65-F5344CB8AC3E}">
        <p14:creationId xmlns:p14="http://schemas.microsoft.com/office/powerpoint/2010/main" val="843286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6AC2-39F2-15A1-1906-EB78D164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pic>
        <p:nvPicPr>
          <p:cNvPr id="5" name="Content Placeholder 4" descr="A white square with green text&#10;&#10;AI-generated content may be incorrect.">
            <a:extLst>
              <a:ext uri="{FF2B5EF4-FFF2-40B4-BE49-F238E27FC236}">
                <a16:creationId xmlns:a16="http://schemas.microsoft.com/office/drawing/2014/main" id="{0293784A-EA1C-B1D4-F6DA-0109FE686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413" y="3923220"/>
            <a:ext cx="6743700" cy="13843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826752-78B3-8685-7394-331429B02D45}"/>
              </a:ext>
            </a:extLst>
          </p:cNvPr>
          <p:cNvSpPr txBox="1"/>
          <p:nvPr/>
        </p:nvSpPr>
        <p:spPr>
          <a:xfrm>
            <a:off x="2231136" y="2348992"/>
            <a:ext cx="8870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>
                <a:effectLst/>
                <a:latin typeface="Helvetica" pitchFamily="2" charset="0"/>
              </a:rPr>
              <a:t>ArrayList</a:t>
            </a:r>
            <a:r>
              <a:rPr lang="en-US" sz="2400" dirty="0">
                <a:effectLst/>
                <a:highlight>
                  <a:srgbClr val="FF00FF"/>
                </a:highlight>
                <a:latin typeface="Helvetica" pitchFamily="2" charset="0"/>
              </a:rPr>
              <a:t>&lt;String&gt; </a:t>
            </a:r>
            <a:r>
              <a:rPr lang="en-US" sz="2400" dirty="0" err="1">
                <a:effectLst/>
                <a:latin typeface="Helvetica" pitchFamily="2" charset="0"/>
              </a:rPr>
              <a:t>arrayList</a:t>
            </a:r>
            <a:r>
              <a:rPr lang="en-US" sz="2400" dirty="0">
                <a:effectLst/>
                <a:latin typeface="Helvetica" pitchFamily="2" charset="0"/>
              </a:rPr>
              <a:t> = new </a:t>
            </a:r>
            <a:r>
              <a:rPr lang="en-US" sz="2400" dirty="0" err="1">
                <a:effectLst/>
                <a:latin typeface="Helvetica" pitchFamily="2" charset="0"/>
              </a:rPr>
              <a:t>ArrayList</a:t>
            </a:r>
            <a:r>
              <a:rPr lang="en-US" sz="2400" dirty="0">
                <a:effectLst/>
                <a:highlight>
                  <a:srgbClr val="FF00FF"/>
                </a:highlight>
                <a:latin typeface="Helvetica" pitchFamily="2" charset="0"/>
              </a:rPr>
              <a:t>&lt;String&gt; </a:t>
            </a:r>
            <a:r>
              <a:rPr lang="en-US" sz="2400" dirty="0">
                <a:effectLst/>
                <a:latin typeface="Helvetica" pitchFamily="2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724370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24F2-A2CB-EC64-502E-2FC628A4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54C5D-E4D0-3C70-2633-51A62280D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/>
              <a:t>ArrayList</a:t>
            </a:r>
            <a:r>
              <a:rPr lang="en-US" sz="2400" dirty="0">
                <a:highlight>
                  <a:srgbClr val="FF00FF"/>
                </a:highlight>
              </a:rPr>
              <a:t>&lt;Number&gt; </a:t>
            </a:r>
            <a:r>
              <a:rPr lang="en-US" sz="2400" dirty="0" err="1"/>
              <a:t>arrayList</a:t>
            </a:r>
            <a:r>
              <a:rPr lang="en-US" sz="2400" dirty="0"/>
              <a:t> = new </a:t>
            </a:r>
            <a:r>
              <a:rPr lang="en-US" sz="2400" dirty="0" err="1"/>
              <a:t>ArrayList</a:t>
            </a:r>
            <a:r>
              <a:rPr lang="en-US" sz="2400" dirty="0"/>
              <a:t>&lt;&gt; ();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EA71D-2B11-1E39-E45B-A4B1163F9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4704589"/>
            <a:ext cx="9458325" cy="69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9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FCE2-DF59-BF16-9646-FF51A86DC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611E0-FE07-CBE8-D4CF-00943F978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1295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List&lt;Number&gt; list = new </a:t>
            </a:r>
            <a:r>
              <a:rPr lang="en-US" sz="2400" dirty="0" err="1"/>
              <a:t>ArrayList</a:t>
            </a:r>
            <a:r>
              <a:rPr lang="en-US" sz="2400" dirty="0"/>
              <a:t>&lt;Integer&gt;();</a:t>
            </a:r>
          </a:p>
          <a:p>
            <a:pPr>
              <a:buFont typeface="Wingdings" pitchFamily="2" charset="2"/>
              <a:buChar char="à"/>
            </a:pPr>
            <a:r>
              <a:rPr lang="en-US" sz="2400" dirty="0" err="1">
                <a:solidFill>
                  <a:srgbClr val="FF777E"/>
                </a:solidFill>
                <a:sym typeface="Wingdings" pitchFamily="2" charset="2"/>
              </a:rPr>
              <a:t>Geht</a:t>
            </a:r>
            <a:r>
              <a:rPr lang="en-US" sz="2400" dirty="0">
                <a:solidFill>
                  <a:srgbClr val="FF777E"/>
                </a:solidFill>
                <a:sym typeface="Wingdings" pitchFamily="2" charset="2"/>
              </a:rPr>
              <a:t> nicht </a:t>
            </a:r>
          </a:p>
          <a:p>
            <a:pPr>
              <a:buFont typeface="Wingdings" pitchFamily="2" charset="2"/>
              <a:buChar char="à"/>
            </a:pPr>
            <a:endParaRPr lang="en-US" sz="2400" dirty="0">
              <a:solidFill>
                <a:srgbClr val="FF777E"/>
              </a:solidFill>
              <a:sym typeface="Wingdings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2CBE8-170B-8F90-0E89-DC642E56233F}"/>
              </a:ext>
            </a:extLst>
          </p:cNvPr>
          <p:cNvSpPr txBox="1"/>
          <p:nvPr/>
        </p:nvSpPr>
        <p:spPr>
          <a:xfrm>
            <a:off x="2231136" y="3933173"/>
            <a:ext cx="85663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sym typeface="Wingdings" pitchFamily="2" charset="2"/>
              </a:rPr>
              <a:t>Coding to an Interface:</a:t>
            </a:r>
          </a:p>
          <a:p>
            <a:r>
              <a:rPr lang="en-US" sz="2400" dirty="0"/>
              <a:t>List&lt;Integer&gt; list = new </a:t>
            </a:r>
            <a:r>
              <a:rPr lang="en-US" sz="2400" dirty="0" err="1"/>
              <a:t>ArrayList</a:t>
            </a:r>
            <a:r>
              <a:rPr lang="en-US" sz="2400" dirty="0"/>
              <a:t>&lt;&gt;();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62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62F62-EF1A-5D52-EDE1-00DBDCD65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7BB74-A570-479A-8254-B65754A16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5"/>
            <a:ext cx="8278201" cy="919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List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&lt;Integer&gt; </a:t>
            </a:r>
            <a:r>
              <a:rPr lang="en-US" sz="2400" dirty="0"/>
              <a:t>list = new </a:t>
            </a:r>
            <a:r>
              <a:rPr lang="en-US" sz="2400" dirty="0" err="1"/>
              <a:t>ArrayList</a:t>
            </a:r>
            <a:r>
              <a:rPr lang="en-US" sz="2400" dirty="0"/>
              <a:t>&lt;&gt;();</a:t>
            </a:r>
          </a:p>
          <a:p>
            <a:pPr marL="0" indent="0">
              <a:buNone/>
            </a:pPr>
            <a:r>
              <a:rPr lang="en-US" sz="2400" dirty="0"/>
              <a:t>List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&lt;String&gt; </a:t>
            </a:r>
            <a:r>
              <a:rPr lang="en-US" sz="2400" dirty="0"/>
              <a:t>linked = new LinkedList&lt;&gt;();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89C00-32A3-15E4-41D2-F1539F296028}"/>
              </a:ext>
            </a:extLst>
          </p:cNvPr>
          <p:cNvSpPr txBox="1"/>
          <p:nvPr/>
        </p:nvSpPr>
        <p:spPr>
          <a:xfrm>
            <a:off x="2231135" y="4027662"/>
            <a:ext cx="8779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&lt;Integer&gt; </a:t>
            </a:r>
            <a:r>
              <a:rPr lang="en-US" sz="2400" dirty="0"/>
              <a:t>set = new HashSet&lt;&gt;();</a:t>
            </a:r>
          </a:p>
          <a:p>
            <a:r>
              <a:rPr lang="en-US" sz="2400" dirty="0"/>
              <a:t>Set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&lt;String&gt; </a:t>
            </a:r>
            <a:r>
              <a:rPr lang="en-US" sz="2400" dirty="0"/>
              <a:t>tree = new </a:t>
            </a:r>
            <a:r>
              <a:rPr lang="en-US" sz="2400" dirty="0" err="1"/>
              <a:t>TreeSet</a:t>
            </a:r>
            <a:r>
              <a:rPr lang="en-US" sz="2400" dirty="0"/>
              <a:t>&lt;&gt;();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4D531-85DF-58B7-A5F3-6772E209A862}"/>
              </a:ext>
            </a:extLst>
          </p:cNvPr>
          <p:cNvSpPr txBox="1"/>
          <p:nvPr/>
        </p:nvSpPr>
        <p:spPr>
          <a:xfrm>
            <a:off x="2231135" y="5431643"/>
            <a:ext cx="94055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Queue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&lt;Integer&gt; </a:t>
            </a:r>
            <a:r>
              <a:rPr lang="en-US" sz="2400" dirty="0"/>
              <a:t>queue = new LinkedList&lt;&gt;();</a:t>
            </a:r>
          </a:p>
        </p:txBody>
      </p:sp>
    </p:spTree>
    <p:extLst>
      <p:ext uri="{BB962C8B-B14F-4D97-AF65-F5344CB8AC3E}">
        <p14:creationId xmlns:p14="http://schemas.microsoft.com/office/powerpoint/2010/main" val="10579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179F-E992-204D-C4B5-AEF03079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(</a:t>
            </a:r>
            <a:r>
              <a:rPr lang="en-US" dirty="0" err="1"/>
              <a:t>keine</a:t>
            </a:r>
            <a:r>
              <a:rPr lang="en-US" dirty="0"/>
              <a:t> Collection)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2C082-2D64-60C4-5EEA-5F817CA28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Map</a:t>
            </a:r>
            <a:r>
              <a:rPr lang="en-US" sz="2400" dirty="0">
                <a:solidFill>
                  <a:schemeClr val="tx1"/>
                </a:solidFill>
              </a:rPr>
              <a:t>&lt;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String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Integer</a:t>
            </a:r>
            <a:r>
              <a:rPr lang="en-US" sz="2400" dirty="0"/>
              <a:t>&gt; map = new HashMap&lt;&gt;();</a:t>
            </a:r>
          </a:p>
          <a:p>
            <a:pPr marL="0" indent="0">
              <a:buNone/>
            </a:pPr>
            <a:r>
              <a:rPr lang="en-US" sz="2400" dirty="0"/>
              <a:t>Map&lt;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Integer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String</a:t>
            </a:r>
            <a:r>
              <a:rPr lang="en-US" sz="2400" dirty="0"/>
              <a:t>&gt; </a:t>
            </a:r>
            <a:r>
              <a:rPr lang="en-US" sz="2400" dirty="0" err="1"/>
              <a:t>treeMap</a:t>
            </a:r>
            <a:r>
              <a:rPr lang="en-US" sz="2400" dirty="0"/>
              <a:t> = new </a:t>
            </a:r>
            <a:r>
              <a:rPr lang="en-US" sz="2400" dirty="0" err="1"/>
              <a:t>TreeMap</a:t>
            </a:r>
            <a:r>
              <a:rPr lang="en-US" sz="2400" dirty="0"/>
              <a:t>&lt;&gt;();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21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91EE92F-BE8D-92E3-701C-EA19A11F9B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300" y="3872567"/>
            <a:ext cx="5431367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Ersetzen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Sie die Klassen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und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StringElement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durch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einzige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generische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Klasse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Element&lt;T&gt;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Klasse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gleiche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Anzahl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Attributen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Methoden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besitzen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Funktionalität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identisch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Klasse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unten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gezeigt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verwendbar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93DCAA27-49E1-5460-92C1-792A0940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67" y="136528"/>
            <a:ext cx="4995333" cy="4102258"/>
          </a:xfrm>
          <a:prstGeom prst="rect">
            <a:avLst/>
          </a:prstGeom>
        </p:spPr>
      </p:pic>
      <p:pic>
        <p:nvPicPr>
          <p:cNvPr id="8" name="Picture 7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05848DF-19F9-6962-BD8F-96B3350D9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703" y="156355"/>
            <a:ext cx="4321830" cy="3817158"/>
          </a:xfrm>
          <a:prstGeom prst="rect">
            <a:avLst/>
          </a:prstGeom>
        </p:spPr>
      </p:pic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93EC72C-B57F-6936-8D59-424B5FF92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533" y="4336128"/>
            <a:ext cx="5596467" cy="236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51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3752</TotalTime>
  <Words>447</Words>
  <Application>Microsoft Macintosh PowerPoint</Application>
  <PresentationFormat>Widescreen</PresentationFormat>
  <Paragraphs>82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Gill Sans MT</vt:lpstr>
      <vt:lpstr>Helvetica</vt:lpstr>
      <vt:lpstr>Wingdings</vt:lpstr>
      <vt:lpstr>Parcel</vt:lpstr>
      <vt:lpstr>Tutorial 11</vt:lpstr>
      <vt:lpstr>Meldet euch für die Klausur an</vt:lpstr>
      <vt:lpstr>Trees</vt:lpstr>
      <vt:lpstr>Trees</vt:lpstr>
      <vt:lpstr>Trees - TODO</vt:lpstr>
      <vt:lpstr>Trees</vt:lpstr>
      <vt:lpstr>PowerPoint Presentation</vt:lpstr>
      <vt:lpstr>PowerPoint Presentation</vt:lpstr>
      <vt:lpstr>Collection</vt:lpstr>
      <vt:lpstr>Generics</vt:lpstr>
      <vt:lpstr>Generics – Wrapper Klassen</vt:lpstr>
      <vt:lpstr>Generics</vt:lpstr>
      <vt:lpstr>Generics</vt:lpstr>
      <vt:lpstr>Generics</vt:lpstr>
      <vt:lpstr>Generics</vt:lpstr>
      <vt:lpstr>Map (keine Collection)</vt:lpstr>
      <vt:lpstr>PowerPoint Presentation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3</cp:revision>
  <dcterms:created xsi:type="dcterms:W3CDTF">2026-01-11T15:19:36Z</dcterms:created>
  <dcterms:modified xsi:type="dcterms:W3CDTF">2026-01-20T10:19:56Z</dcterms:modified>
</cp:coreProperties>
</file>