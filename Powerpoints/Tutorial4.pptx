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6"/>
  </p:notesMasterIdLst>
  <p:sldIdLst>
    <p:sldId id="256" r:id="rId2"/>
    <p:sldId id="277" r:id="rId3"/>
    <p:sldId id="272" r:id="rId4"/>
    <p:sldId id="260" r:id="rId5"/>
    <p:sldId id="269" r:id="rId6"/>
    <p:sldId id="283" r:id="rId7"/>
    <p:sldId id="278" r:id="rId8"/>
    <p:sldId id="261" r:id="rId9"/>
    <p:sldId id="262" r:id="rId10"/>
    <p:sldId id="279" r:id="rId11"/>
    <p:sldId id="280" r:id="rId12"/>
    <p:sldId id="281" r:id="rId13"/>
    <p:sldId id="282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FFA7"/>
    <a:srgbClr val="FFBDB0"/>
    <a:srgbClr val="B4FFF7"/>
    <a:srgbClr val="FF8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61"/>
    <p:restoredTop sz="94646"/>
  </p:normalViewPr>
  <p:slideViewPr>
    <p:cSldViewPr snapToGrid="0">
      <p:cViewPr varScale="1">
        <p:scale>
          <a:sx n="55" d="100"/>
          <a:sy n="55" d="100"/>
        </p:scale>
        <p:origin x="192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B3192-B0BF-B446-84E7-B5F2CB801CF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2936D-CB6C-3B46-AE7D-7A9FCFD31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17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1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0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1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59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3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7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23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09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4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5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575089D-6844-6247-88F0-9A9D99481C06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EB49579-0092-A44C-A538-65E162D9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74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A207-5DA3-0B11-3DAB-4FA8FC03E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Tutorial 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1BDDA-F697-BD48-07A9-B9A296DF0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 </a:t>
            </a:r>
          </a:p>
        </p:txBody>
      </p:sp>
    </p:spTree>
    <p:extLst>
      <p:ext uri="{BB962C8B-B14F-4D97-AF65-F5344CB8AC3E}">
        <p14:creationId xmlns:p14="http://schemas.microsoft.com/office/powerpoint/2010/main" val="367504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3D32-F0DD-FA7A-EEC8-A27DAB12C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Recap-</a:t>
            </a:r>
            <a:r>
              <a:rPr lang="en-US" dirty="0" err="1"/>
              <a:t>Schleifen</a:t>
            </a:r>
            <a:endParaRPr lang="en-US" dirty="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43A6A8E-F8CB-4864-2F95-447A878AA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536" y="2310515"/>
            <a:ext cx="4982464" cy="44122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9B259E-3C1E-703C-152A-67FEBCB67E3C}"/>
              </a:ext>
            </a:extLst>
          </p:cNvPr>
          <p:cNvSpPr txBox="1"/>
          <p:nvPr/>
        </p:nvSpPr>
        <p:spPr>
          <a:xfrm>
            <a:off x="7360170" y="2453056"/>
            <a:ext cx="4204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for-</a:t>
            </a:r>
            <a:r>
              <a:rPr lang="en-US" sz="3200" dirty="0" err="1"/>
              <a:t>Schleife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E9044-03BD-D5E5-E19D-89C296D532E4}"/>
              </a:ext>
            </a:extLst>
          </p:cNvPr>
          <p:cNvSpPr txBox="1"/>
          <p:nvPr/>
        </p:nvSpPr>
        <p:spPr>
          <a:xfrm>
            <a:off x="7360170" y="3692330"/>
            <a:ext cx="6198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for-each-</a:t>
            </a:r>
            <a:r>
              <a:rPr lang="en-US" sz="3200" dirty="0" err="1"/>
              <a:t>Schleife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AE62C-45D4-AEDB-2017-6A48E2AE7F29}"/>
              </a:ext>
            </a:extLst>
          </p:cNvPr>
          <p:cNvSpPr txBox="1"/>
          <p:nvPr/>
        </p:nvSpPr>
        <p:spPr>
          <a:xfrm>
            <a:off x="7360170" y="5600920"/>
            <a:ext cx="2863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while-</a:t>
            </a:r>
            <a:r>
              <a:rPr lang="en-US" sz="3200" dirty="0" err="1"/>
              <a:t>Schleife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20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86A0-044E-DEDE-0F26-9CDB90FE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13B323-0024-F747-2936-3DA299440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Recap-Arrays</a:t>
            </a:r>
          </a:p>
        </p:txBody>
      </p:sp>
      <p:pic>
        <p:nvPicPr>
          <p:cNvPr id="2050" name="Picture 2" descr="What are Arrays in Java? - UseMyNotes">
            <a:extLst>
              <a:ext uri="{FF2B5EF4-FFF2-40B4-BE49-F238E27FC236}">
                <a16:creationId xmlns:a16="http://schemas.microsoft.com/office/drawing/2014/main" id="{96706CA5-3F8A-0DA9-7E29-99E203DA5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392" y="2216150"/>
            <a:ext cx="5995172" cy="438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screen with colorful text&#10;&#10;AI-generated content may be incorrect.">
            <a:extLst>
              <a:ext uri="{FF2B5EF4-FFF2-40B4-BE49-F238E27FC236}">
                <a16:creationId xmlns:a16="http://schemas.microsoft.com/office/drawing/2014/main" id="{566E7627-287E-AD26-6639-BCE1FC700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8" y="3063314"/>
            <a:ext cx="52705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E7D0-8A49-A421-2A2E-DA3D7EEC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9F5F7-EDC2-AAC6-15A1-6142FD4B9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/>
              <a:t>2d Arrays</a:t>
            </a:r>
          </a:p>
          <a:p>
            <a:r>
              <a:rPr lang="en-US" sz="2600" dirty="0"/>
              <a:t>Do - while</a:t>
            </a:r>
          </a:p>
          <a:p>
            <a:r>
              <a:rPr lang="en-US" sz="2600" dirty="0"/>
              <a:t>Break, continue</a:t>
            </a:r>
          </a:p>
          <a:p>
            <a:r>
              <a:rPr lang="en-US" sz="2600" dirty="0" err="1"/>
              <a:t>Methoden</a:t>
            </a:r>
            <a:endParaRPr lang="en-US" sz="2600" dirty="0"/>
          </a:p>
          <a:p>
            <a:r>
              <a:rPr lang="en-US" sz="2600" dirty="0" err="1"/>
              <a:t>Rekursion</a:t>
            </a:r>
            <a:r>
              <a:rPr lang="en-US" sz="2600" dirty="0"/>
              <a:t> </a:t>
            </a:r>
          </a:p>
          <a:p>
            <a:r>
              <a:rPr lang="en-US" sz="2600" dirty="0"/>
              <a:t>Method Overloading</a:t>
            </a:r>
          </a:p>
          <a:p>
            <a:r>
              <a:rPr lang="en-US" sz="2600" dirty="0" err="1"/>
              <a:t>Varargs</a:t>
            </a:r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68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B90-5969-0C14-6806-EB56E914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492892-9517-5CFE-91A8-83DAF5D73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pic>
        <p:nvPicPr>
          <p:cNvPr id="1028" name="Picture 4" descr="Java Multi-Dimensional Arrays - GeeksforGeeks">
            <a:extLst>
              <a:ext uri="{FF2B5EF4-FFF2-40B4-BE49-F238E27FC236}">
                <a16:creationId xmlns:a16="http://schemas.microsoft.com/office/drawing/2014/main" id="{E9FEC2C6-69C2-5126-6881-D4320D40D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560" y="2551286"/>
            <a:ext cx="8220879" cy="313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68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B082-CEDE-2429-87E8-D566FA5C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Erinnerung</a:t>
            </a:r>
            <a:endParaRPr lang="en-US" dirty="0"/>
          </a:p>
        </p:txBody>
      </p:sp>
      <p:pic>
        <p:nvPicPr>
          <p:cNvPr id="5" name="Content Placeholder 4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C2277453-9F05-FB72-ABFB-8DDD54093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6283" y="2472796"/>
            <a:ext cx="5403849" cy="375310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6F87B-6E74-8DA8-730A-82EDC0477A29}"/>
              </a:ext>
            </a:extLst>
          </p:cNvPr>
          <p:cNvSpPr txBox="1"/>
          <p:nvPr/>
        </p:nvSpPr>
        <p:spPr>
          <a:xfrm>
            <a:off x="541868" y="3581400"/>
            <a:ext cx="5249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Eindimensionales</a:t>
            </a:r>
            <a:r>
              <a:rPr lang="en-US" sz="2400" dirty="0"/>
              <a:t> Array </a:t>
            </a:r>
            <a:r>
              <a:rPr lang="en-US" sz="2400" dirty="0" err="1"/>
              <a:t>ausgeben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2710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9E9A-B57C-93C5-43E2-B4C3C024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87502-1FCE-B7B3-B5ED-E8A9C7600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5266" y="2557361"/>
            <a:ext cx="7729728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A9FFA7"/>
                </a:solidFill>
              </a:rPr>
              <a:t>int </a:t>
            </a:r>
            <a:r>
              <a:rPr lang="en-US" sz="3200" dirty="0" err="1">
                <a:solidFill>
                  <a:srgbClr val="A9FFA7"/>
                </a:solidFill>
              </a:rPr>
              <a:t>i</a:t>
            </a:r>
            <a:r>
              <a:rPr lang="en-US" sz="3200" dirty="0">
                <a:solidFill>
                  <a:srgbClr val="A9FFA7"/>
                </a:solidFill>
              </a:rPr>
              <a:t>= 5;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C000"/>
                </a:solidFill>
              </a:rPr>
              <a:t>do{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FF88E6"/>
                </a:solidFill>
              </a:rPr>
              <a:t>System.out.println</a:t>
            </a:r>
            <a:r>
              <a:rPr lang="en-US" sz="3200" dirty="0">
                <a:solidFill>
                  <a:srgbClr val="FF88E6"/>
                </a:solidFill>
              </a:rPr>
              <a:t>(</a:t>
            </a:r>
            <a:r>
              <a:rPr lang="en-US" sz="3200" dirty="0" err="1">
                <a:solidFill>
                  <a:srgbClr val="FF88E6"/>
                </a:solidFill>
              </a:rPr>
              <a:t>i</a:t>
            </a:r>
            <a:r>
              <a:rPr lang="en-US" sz="3200" dirty="0">
                <a:solidFill>
                  <a:srgbClr val="FF88E6"/>
                </a:solidFill>
              </a:rPr>
              <a:t>) 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A9FFA7"/>
                </a:solidFill>
              </a:rPr>
              <a:t>i</a:t>
            </a:r>
            <a:r>
              <a:rPr lang="en-US" sz="3200" dirty="0">
                <a:solidFill>
                  <a:srgbClr val="A9FFA7"/>
                </a:solidFill>
              </a:rPr>
              <a:t>--;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C000"/>
                </a:solidFill>
              </a:rPr>
              <a:t>}while(</a:t>
            </a:r>
            <a:r>
              <a:rPr lang="en-US" sz="3200" dirty="0" err="1">
                <a:solidFill>
                  <a:srgbClr val="FFC000"/>
                </a:solidFill>
              </a:rPr>
              <a:t>i</a:t>
            </a:r>
            <a:r>
              <a:rPr lang="en-US" sz="3200" dirty="0">
                <a:solidFill>
                  <a:srgbClr val="FFC000"/>
                </a:solidFill>
              </a:rPr>
              <a:t>&gt;0);</a:t>
            </a:r>
          </a:p>
        </p:txBody>
      </p:sp>
    </p:spTree>
    <p:extLst>
      <p:ext uri="{BB962C8B-B14F-4D97-AF65-F5344CB8AC3E}">
        <p14:creationId xmlns:p14="http://schemas.microsoft.com/office/powerpoint/2010/main" val="415445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A8C8-596F-C536-4210-C4DB7912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Methoden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94B30-9B5E-FA1F-DAEA-6E6A3234B7D7}"/>
              </a:ext>
            </a:extLst>
          </p:cNvPr>
          <p:cNvSpPr txBox="1"/>
          <p:nvPr/>
        </p:nvSpPr>
        <p:spPr>
          <a:xfrm>
            <a:off x="9099176" y="5559180"/>
            <a:ext cx="3092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Wenn </a:t>
            </a:r>
            <a:r>
              <a:rPr lang="en-US" sz="2400" dirty="0" err="1"/>
              <a:t>nichts</a:t>
            </a:r>
            <a:r>
              <a:rPr lang="en-US" sz="2400" dirty="0"/>
              <a:t> </a:t>
            </a:r>
            <a:r>
              <a:rPr lang="en-US" sz="2400" dirty="0" err="1"/>
              <a:t>zurück</a:t>
            </a:r>
            <a:r>
              <a:rPr lang="en-US" sz="2400" dirty="0"/>
              <a:t> </a:t>
            </a:r>
            <a:r>
              <a:rPr lang="en-US" sz="2400" dirty="0" err="1"/>
              <a:t>gegeben</a:t>
            </a:r>
            <a:r>
              <a:rPr lang="en-US" sz="2400" dirty="0"/>
              <a:t> </a:t>
            </a:r>
            <a:r>
              <a:rPr lang="en-US" sz="2400" dirty="0" err="1"/>
              <a:t>werden</a:t>
            </a:r>
            <a:r>
              <a:rPr lang="en-US" sz="2400" dirty="0"/>
              <a:t> </a:t>
            </a:r>
            <a:r>
              <a:rPr lang="en-US" sz="2400" dirty="0" err="1"/>
              <a:t>soll</a:t>
            </a:r>
            <a:r>
              <a:rPr lang="en-US" sz="2400" dirty="0"/>
              <a:t> </a:t>
            </a:r>
            <a:r>
              <a:rPr lang="en-US" sz="2400" dirty="0" err="1"/>
              <a:t>ist</a:t>
            </a:r>
            <a:r>
              <a:rPr lang="en-US" sz="2400" dirty="0"/>
              <a:t> return type: </a:t>
            </a:r>
            <a:r>
              <a:rPr lang="en-US" sz="2400" dirty="0">
                <a:solidFill>
                  <a:srgbClr val="FF88E6"/>
                </a:solidFill>
              </a:rPr>
              <a:t>void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D095A-43A2-1CCC-80F7-3B4BED1A7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341" y="2605387"/>
            <a:ext cx="11610752" cy="37954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dirty="0">
                <a:solidFill>
                  <a:srgbClr val="A9FFA7"/>
                </a:solidFill>
              </a:rPr>
              <a:t>&lt;access modifier&gt; </a:t>
            </a:r>
            <a:r>
              <a:rPr lang="en-US" sz="3300" dirty="0"/>
              <a:t>static </a:t>
            </a:r>
            <a:r>
              <a:rPr lang="en-US" sz="3300" dirty="0">
                <a:solidFill>
                  <a:srgbClr val="FF88E6"/>
                </a:solidFill>
              </a:rPr>
              <a:t>&lt;return type&gt; </a:t>
            </a:r>
            <a:r>
              <a:rPr lang="en-US" sz="3300" dirty="0">
                <a:solidFill>
                  <a:srgbClr val="B4FFF7"/>
                </a:solidFill>
              </a:rPr>
              <a:t>&lt;method name&gt; </a:t>
            </a:r>
            <a:r>
              <a:rPr lang="en-US" sz="3300" dirty="0">
                <a:solidFill>
                  <a:srgbClr val="FFBDB0"/>
                </a:solidFill>
              </a:rPr>
              <a:t>(&lt;parameters&gt;){</a:t>
            </a:r>
          </a:p>
          <a:p>
            <a:pPr marL="0" indent="0">
              <a:buNone/>
            </a:pPr>
            <a:r>
              <a:rPr lang="en-US" sz="3300" dirty="0"/>
              <a:t>//instructions</a:t>
            </a:r>
          </a:p>
          <a:p>
            <a:pPr marL="0" indent="0">
              <a:buNone/>
            </a:pPr>
            <a:r>
              <a:rPr lang="en-US" sz="33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>
                <a:solidFill>
                  <a:srgbClr val="A9FFA7"/>
                </a:solidFill>
              </a:rPr>
              <a:t>public</a:t>
            </a:r>
            <a:r>
              <a:rPr lang="en-US" sz="2800" dirty="0"/>
              <a:t> static </a:t>
            </a:r>
            <a:r>
              <a:rPr lang="en-US" sz="2800" dirty="0">
                <a:solidFill>
                  <a:srgbClr val="FF88E6"/>
                </a:solidFill>
              </a:rPr>
              <a:t>double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B4FFF7"/>
                </a:solidFill>
              </a:rPr>
              <a:t>getTemperature</a:t>
            </a:r>
            <a:r>
              <a:rPr lang="en-US" sz="2800" dirty="0">
                <a:solidFill>
                  <a:srgbClr val="B4FFF7"/>
                </a:solidFill>
              </a:rPr>
              <a:t>(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BDB0"/>
                </a:solidFill>
              </a:rPr>
              <a:t>String location </a:t>
            </a:r>
            <a:r>
              <a:rPr lang="en-US" sz="2800" dirty="0"/>
              <a:t>) {</a:t>
            </a:r>
          </a:p>
          <a:p>
            <a:pPr marL="0" indent="0">
              <a:buNone/>
            </a:pPr>
            <a:r>
              <a:rPr lang="en-US" sz="2800" dirty="0"/>
              <a:t> // </a:t>
            </a:r>
            <a:r>
              <a:rPr lang="en-US" sz="2800" dirty="0" err="1"/>
              <a:t>i</a:t>
            </a:r>
            <a:r>
              <a:rPr lang="en-US" sz="2800" dirty="0"/>
              <a:t> n s t r u c t </a:t>
            </a:r>
            <a:r>
              <a:rPr lang="en-US" sz="2800" dirty="0" err="1"/>
              <a:t>i</a:t>
            </a:r>
            <a:r>
              <a:rPr lang="en-US" sz="2800" dirty="0"/>
              <a:t> o n s</a:t>
            </a:r>
          </a:p>
          <a:p>
            <a:pPr marL="0" indent="0">
              <a:buNone/>
            </a:pPr>
            <a:r>
              <a:rPr lang="en-US" sz="2800" dirty="0"/>
              <a:t>Return 2.0;</a:t>
            </a:r>
          </a:p>
          <a:p>
            <a:pPr marL="0" indent="0">
              <a:buNone/>
            </a:pPr>
            <a:r>
              <a:rPr lang="en-US" sz="2800" dirty="0"/>
              <a:t>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65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BB3-77BE-B7C4-8C58-538DA8BA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Rekursion</a:t>
            </a:r>
            <a:endParaRPr lang="en-US" dirty="0"/>
          </a:p>
        </p:txBody>
      </p:sp>
      <p:pic>
        <p:nvPicPr>
          <p:cNvPr id="1026" name="Picture 2" descr="Fakultät (Mathematik) – Wikipedia">
            <a:extLst>
              <a:ext uri="{FF2B5EF4-FFF2-40B4-BE49-F238E27FC236}">
                <a16:creationId xmlns:a16="http://schemas.microsoft.com/office/drawing/2014/main" id="{7BD197D4-600D-D494-D0A1-CF2E1FEC4E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767" y="2987892"/>
            <a:ext cx="4498698" cy="283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94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48C2B-898D-A241-CC45-ABAB71B2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8B476-0092-6BE6-1C09-8EC73BC38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008" y="2638044"/>
            <a:ext cx="10771632" cy="3101983"/>
          </a:xfrm>
        </p:spPr>
        <p:txBody>
          <a:bodyPr/>
          <a:lstStyle/>
          <a:p>
            <a:r>
              <a:rPr lang="en-US" sz="2400" dirty="0" err="1">
                <a:solidFill>
                  <a:srgbClr val="B4FFF7"/>
                </a:solidFill>
              </a:rPr>
              <a:t>Methodenname</a:t>
            </a:r>
            <a:r>
              <a:rPr lang="en-US" sz="2400" dirty="0"/>
              <a:t> + </a:t>
            </a:r>
            <a:r>
              <a:rPr lang="en-US" sz="2400" dirty="0">
                <a:solidFill>
                  <a:srgbClr val="A9FFA7"/>
                </a:solidFill>
              </a:rPr>
              <a:t>Parameter-</a:t>
            </a:r>
            <a:r>
              <a:rPr lang="en-US" sz="2400" dirty="0" err="1">
                <a:solidFill>
                  <a:srgbClr val="A9FFA7"/>
                </a:solidFill>
              </a:rPr>
              <a:t>Typen</a:t>
            </a:r>
            <a:r>
              <a:rPr lang="en-US" sz="2400" dirty="0"/>
              <a:t> + </a:t>
            </a:r>
            <a:r>
              <a:rPr lang="en-US" sz="2400" dirty="0" err="1"/>
              <a:t>Reihenfolge</a:t>
            </a:r>
            <a:r>
              <a:rPr lang="en-US" sz="2400" dirty="0"/>
              <a:t> = </a:t>
            </a:r>
            <a:r>
              <a:rPr lang="en-US" sz="2400" dirty="0" err="1"/>
              <a:t>Methodensignatur</a:t>
            </a:r>
            <a:endParaRPr lang="en-US" sz="2400" dirty="0"/>
          </a:p>
          <a:p>
            <a:endParaRPr lang="en-US" b="1" dirty="0"/>
          </a:p>
          <a:p>
            <a:endParaRPr lang="en-US" b="1" dirty="0"/>
          </a:p>
          <a:p>
            <a:r>
              <a:rPr lang="en-US" altLang="en-US" sz="2800" dirty="0" err="1">
                <a:solidFill>
                  <a:schemeClr val="tx1"/>
                </a:solidFill>
                <a:latin typeface="+mj-lt"/>
                <a:ea typeface="-webkit-standard"/>
              </a:rPr>
              <a:t>Beispiel</a:t>
            </a:r>
            <a:r>
              <a:rPr lang="en-US" altLang="en-US" sz="2800" dirty="0">
                <a:solidFill>
                  <a:schemeClr val="tx1"/>
                </a:solidFill>
                <a:latin typeface="+mj-lt"/>
                <a:ea typeface="-webkit-standard"/>
              </a:rPr>
              <a:t>: </a:t>
            </a:r>
          </a:p>
          <a:p>
            <a:r>
              <a:rPr lang="en-US" altLang="en-US" sz="2800" dirty="0">
                <a:solidFill>
                  <a:srgbClr val="B4FFF7"/>
                </a:solidFill>
                <a:latin typeface="+mj-lt"/>
              </a:rPr>
              <a:t>add</a:t>
            </a:r>
            <a:r>
              <a:rPr lang="en-US" altLang="en-US" sz="2800" dirty="0">
                <a:solidFill>
                  <a:srgbClr val="A9FFA7"/>
                </a:solidFill>
                <a:latin typeface="+mj-lt"/>
              </a:rPr>
              <a:t>(int, int)</a:t>
            </a:r>
            <a:r>
              <a:rPr lang="en-US" altLang="en-US" sz="2800" dirty="0">
                <a:solidFill>
                  <a:srgbClr val="A9FFA7"/>
                </a:solidFill>
                <a:latin typeface="+mj-lt"/>
                <a:ea typeface="-webkit-standard"/>
              </a:rPr>
              <a:t> </a:t>
            </a:r>
          </a:p>
          <a:p>
            <a:r>
              <a:rPr lang="en-US" altLang="en-US" sz="2800" dirty="0">
                <a:solidFill>
                  <a:srgbClr val="A9FFA7"/>
                </a:solidFill>
                <a:latin typeface="+mj-lt"/>
                <a:ea typeface="-webkit-standard"/>
              </a:rPr>
              <a:t> </a:t>
            </a:r>
            <a:r>
              <a:rPr lang="en-US" altLang="en-US" sz="2800" dirty="0">
                <a:solidFill>
                  <a:srgbClr val="B4FFF7"/>
                </a:solidFill>
                <a:latin typeface="+mj-lt"/>
              </a:rPr>
              <a:t>add</a:t>
            </a:r>
            <a:r>
              <a:rPr lang="en-US" altLang="en-US" sz="2800" dirty="0">
                <a:solidFill>
                  <a:srgbClr val="A9FFA7"/>
                </a:solidFill>
                <a:latin typeface="+mj-lt"/>
              </a:rPr>
              <a:t>(double, double</a:t>
            </a:r>
            <a:r>
              <a:rPr lang="en-US" altLang="en-US" sz="2000" dirty="0">
                <a:solidFill>
                  <a:srgbClr val="A9FFA7"/>
                </a:solidFill>
                <a:latin typeface="+mj-lt"/>
              </a:rPr>
              <a:t>)</a:t>
            </a:r>
            <a:r>
              <a:rPr lang="en-US" altLang="en-US" sz="2000" dirty="0">
                <a:solidFill>
                  <a:srgbClr val="A9FFA7"/>
                </a:solidFill>
                <a:latin typeface="+mj-lt"/>
                <a:ea typeface="-webkit-standard"/>
              </a:rPr>
              <a:t> </a:t>
            </a:r>
            <a:endParaRPr lang="en-US" altLang="en-US" sz="2000" dirty="0">
              <a:solidFill>
                <a:srgbClr val="A9FFA7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4F531-EFEF-966B-4204-44C0A45EFDF7}"/>
              </a:ext>
            </a:extLst>
          </p:cNvPr>
          <p:cNvSpPr txBox="1"/>
          <p:nvPr/>
        </p:nvSpPr>
        <p:spPr>
          <a:xfrm>
            <a:off x="5204013" y="4316506"/>
            <a:ext cx="578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&lt;-- </a:t>
            </a:r>
            <a:r>
              <a:rPr lang="en-US" altLang="en-US" sz="2800" dirty="0" err="1">
                <a:solidFill>
                  <a:srgbClr val="FF88E6"/>
                </a:solidFill>
                <a:ea typeface="-webkit-standard"/>
              </a:rPr>
              <a:t>zwei</a:t>
            </a:r>
            <a:r>
              <a:rPr lang="en-US" altLang="en-US" sz="2800" dirty="0">
                <a:solidFill>
                  <a:srgbClr val="FF88E6"/>
                </a:solidFill>
                <a:ea typeface="-webkit-standard"/>
              </a:rPr>
              <a:t> </a:t>
            </a:r>
            <a:r>
              <a:rPr lang="en-US" altLang="en-US" sz="2800" dirty="0" err="1">
                <a:solidFill>
                  <a:srgbClr val="FF88E6"/>
                </a:solidFill>
                <a:ea typeface="-webkit-standard"/>
              </a:rPr>
              <a:t>verschiedene</a:t>
            </a:r>
            <a:r>
              <a:rPr lang="en-US" altLang="en-US" sz="2800" dirty="0">
                <a:solidFill>
                  <a:srgbClr val="FF88E6"/>
                </a:solidFill>
                <a:ea typeface="-webkit-standard"/>
              </a:rPr>
              <a:t> </a:t>
            </a:r>
            <a:r>
              <a:rPr lang="en-US" altLang="en-US" sz="2800" dirty="0" err="1">
                <a:solidFill>
                  <a:srgbClr val="FF88E6"/>
                </a:solidFill>
                <a:ea typeface="-webkit-standard"/>
              </a:rPr>
              <a:t>Signaturen</a:t>
            </a:r>
            <a:endParaRPr lang="en-US" sz="2800" dirty="0">
              <a:solidFill>
                <a:srgbClr val="FF88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225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diagram of a flowchart&#10;&#10;AI-generated content may be incorrect.">
            <a:extLst>
              <a:ext uri="{FF2B5EF4-FFF2-40B4-BE49-F238E27FC236}">
                <a16:creationId xmlns:a16="http://schemas.microsoft.com/office/drawing/2014/main" id="{B6F83247-0C2E-2D66-16FD-1B054F6AC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283" y="2489200"/>
            <a:ext cx="9795434" cy="3561976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32EB0E-54E1-99AE-3B8E-3F6E1D7A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</a:t>
            </a:r>
          </a:p>
        </p:txBody>
      </p:sp>
    </p:spTree>
    <p:extLst>
      <p:ext uri="{BB962C8B-B14F-4D97-AF65-F5344CB8AC3E}">
        <p14:creationId xmlns:p14="http://schemas.microsoft.com/office/powerpoint/2010/main" val="3669455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5ED4-4FDF-248E-DD18-6C7ECB6D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Varargs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4413B-8171-B48B-A053-9D86BAE8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666" y="2638044"/>
            <a:ext cx="9433107" cy="3101983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A9FFA7"/>
                </a:solidFill>
              </a:rPr>
              <a:t>Bsp</a:t>
            </a:r>
            <a:r>
              <a:rPr lang="en-US" sz="2800" dirty="0">
                <a:solidFill>
                  <a:srgbClr val="A9FFA7"/>
                </a:solidFill>
              </a:rPr>
              <a:t>: </a:t>
            </a:r>
            <a:r>
              <a:rPr lang="en-US" sz="2400" dirty="0">
                <a:solidFill>
                  <a:srgbClr val="A9FFA7"/>
                </a:solidFill>
              </a:rPr>
              <a:t>Du </a:t>
            </a:r>
            <a:r>
              <a:rPr lang="en-US" sz="2400" dirty="0" err="1">
                <a:solidFill>
                  <a:srgbClr val="A9FFA7"/>
                </a:solidFill>
              </a:rPr>
              <a:t>willst</a:t>
            </a:r>
            <a:r>
              <a:rPr lang="en-US" sz="2400" dirty="0">
                <a:solidFill>
                  <a:srgbClr val="A9FFA7"/>
                </a:solidFill>
              </a:rPr>
              <a:t> 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alle Zahlen </a:t>
            </a:r>
            <a:r>
              <a:rPr lang="en-US" altLang="en-US" sz="2400" dirty="0" err="1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addieren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, egal </a:t>
            </a:r>
            <a:r>
              <a:rPr lang="en-US" altLang="en-US" sz="2400" dirty="0" err="1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ob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 2, 3 </a:t>
            </a:r>
            <a:r>
              <a:rPr lang="en-US" altLang="en-US" sz="2400" dirty="0" err="1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oder</a:t>
            </a:r>
            <a:r>
              <a:rPr lang="en-US" altLang="en-US" sz="2400" dirty="0">
                <a:solidFill>
                  <a:srgbClr val="A9FFA7"/>
                </a:solidFill>
                <a:latin typeface="Arial" panose="020B0604020202020204" pitchFamily="34" charset="0"/>
                <a:ea typeface="-webkit-standard"/>
              </a:rPr>
              <a:t> 10 Stück.</a:t>
            </a:r>
          </a:p>
          <a:p>
            <a:r>
              <a:rPr lang="en-US" sz="24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Normalerweise</a:t>
            </a:r>
            <a:r>
              <a:rPr lang="en-US" sz="2400" u="sng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r>
              <a:rPr lang="en-US" dirty="0">
                <a:solidFill>
                  <a:srgbClr val="FF88E6"/>
                </a:solidFill>
                <a:latin typeface="Arial" panose="020B0604020202020204" pitchFamily="34" charset="0"/>
              </a:rPr>
              <a:t>sum(1, 2);</a:t>
            </a:r>
          </a:p>
          <a:p>
            <a:r>
              <a:rPr lang="en-US" dirty="0">
                <a:solidFill>
                  <a:srgbClr val="FF88E6"/>
                </a:solidFill>
                <a:latin typeface="Arial" panose="020B0604020202020204" pitchFamily="34" charset="0"/>
              </a:rPr>
              <a:t>sum(1, 2, 3);</a:t>
            </a:r>
          </a:p>
          <a:p>
            <a:r>
              <a:rPr lang="en-US" dirty="0">
                <a:solidFill>
                  <a:srgbClr val="FF88E6"/>
                </a:solidFill>
                <a:latin typeface="Arial" panose="020B0604020202020204" pitchFamily="34" charset="0"/>
              </a:rPr>
              <a:t>sum(1, 2, 3, 4);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Mit 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Varargs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 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geht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 das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alles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mit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 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einer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-webkit-standard"/>
              </a:rPr>
              <a:t> Methode!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4227D979-E0AF-AC7E-B580-336F79E67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655" y="3429000"/>
            <a:ext cx="3759076" cy="231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62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41D7-0D1D-31B6-52D6-1BB88F6C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Regeln </a:t>
            </a:r>
            <a:r>
              <a:rPr lang="en-US" dirty="0" err="1"/>
              <a:t>Varargs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5A11CE-5DEF-BEEB-1AE2-2EAFB1B9B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423616"/>
            <a:ext cx="717536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Regeln: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Du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darfst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nur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ein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Varargs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-Parameter pro Methode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haben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88E6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Er muss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am Ende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 der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Parameterliste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stehen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88E6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E192D-E68F-4343-1587-7B772D3E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626" y="4294258"/>
            <a:ext cx="6789872" cy="81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9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506</TotalTime>
  <Words>225</Words>
  <Application>Microsoft Macintosh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-webkit-standard</vt:lpstr>
      <vt:lpstr>Aptos</vt:lpstr>
      <vt:lpstr>Arial</vt:lpstr>
      <vt:lpstr>Gill Sans MT</vt:lpstr>
      <vt:lpstr>Parcel</vt:lpstr>
      <vt:lpstr>Tutorial 4</vt:lpstr>
      <vt:lpstr>Recap-Schleifen</vt:lpstr>
      <vt:lpstr>Recap-Arrays</vt:lpstr>
      <vt:lpstr>TODO</vt:lpstr>
      <vt:lpstr>Arrays</vt:lpstr>
      <vt:lpstr>Erinnerung</vt:lpstr>
      <vt:lpstr>Do while</vt:lpstr>
      <vt:lpstr>Methoden</vt:lpstr>
      <vt:lpstr>Rekursion</vt:lpstr>
      <vt:lpstr>Method overloading</vt:lpstr>
      <vt:lpstr>Method overloading</vt:lpstr>
      <vt:lpstr>Varargs</vt:lpstr>
      <vt:lpstr>Regeln Varargs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3</cp:revision>
  <dcterms:created xsi:type="dcterms:W3CDTF">2025-11-10T09:40:09Z</dcterms:created>
  <dcterms:modified xsi:type="dcterms:W3CDTF">2025-11-16T14:33:57Z</dcterms:modified>
</cp:coreProperties>
</file>