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6" r:id="rId1"/>
  </p:sldMasterIdLst>
  <p:sldIdLst>
    <p:sldId id="256" r:id="rId2"/>
    <p:sldId id="257" r:id="rId3"/>
    <p:sldId id="269" r:id="rId4"/>
    <p:sldId id="259" r:id="rId5"/>
    <p:sldId id="267" r:id="rId6"/>
    <p:sldId id="272" r:id="rId7"/>
    <p:sldId id="263" r:id="rId8"/>
    <p:sldId id="265" r:id="rId9"/>
    <p:sldId id="266" r:id="rId10"/>
    <p:sldId id="271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3C9F"/>
    <a:srgbClr val="008200"/>
    <a:srgbClr val="00D600"/>
    <a:srgbClr val="0084D8"/>
    <a:srgbClr val="7DA2FF"/>
    <a:srgbClr val="ADFF8E"/>
    <a:srgbClr val="FFAFD4"/>
    <a:srgbClr val="475979"/>
    <a:srgbClr val="5F759B"/>
    <a:srgbClr val="6E8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232243-1902-6946-BFC4-476A8BA7F8CC}" v="134" dt="2025-12-09T10:31:58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30"/>
    <p:restoredTop sz="94745"/>
  </p:normalViewPr>
  <p:slideViewPr>
    <p:cSldViewPr snapToGrid="0">
      <p:cViewPr varScale="1">
        <p:scale>
          <a:sx n="96" d="100"/>
          <a:sy n="96" d="100"/>
        </p:scale>
        <p:origin x="176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05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619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53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68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7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10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2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85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tx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72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82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52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chemeClr val="bg2">
              <a:lumMod val="60000"/>
              <a:lumOff val="40000"/>
              <a:alpha val="15000"/>
            </a:schemeClr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BC616D2-DB76-6B4C-A0E8-DE6F13A02F97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6943261D-5FC7-CF43-9D78-53F7484E95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186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257AB-8E2B-96F5-C325-4EE2A4290A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Tutorial 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468F6-95F3-73B9-CAE2-276DA91935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</a:t>
            </a:r>
          </a:p>
        </p:txBody>
      </p:sp>
    </p:spTree>
    <p:extLst>
      <p:ext uri="{BB962C8B-B14F-4D97-AF65-F5344CB8AC3E}">
        <p14:creationId xmlns:p14="http://schemas.microsoft.com/office/powerpoint/2010/main" val="210859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E0A5B-B31F-E62A-18F2-7145E6E76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Todo: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6DAA7BE-0ADC-E996-EDE3-BBCC9F93E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6372" y="2664170"/>
            <a:ext cx="5366657" cy="3393730"/>
          </a:xfrm>
        </p:spPr>
        <p:txBody>
          <a:bodyPr>
            <a:normAutofit/>
          </a:bodyPr>
          <a:lstStyle/>
          <a:p>
            <a:r>
              <a:rPr lang="en-US" sz="2800" dirty="0"/>
              <a:t>Interfaces </a:t>
            </a:r>
          </a:p>
          <a:p>
            <a:r>
              <a:rPr lang="en-US" sz="2800" dirty="0"/>
              <a:t>Coding to an interface</a:t>
            </a:r>
          </a:p>
          <a:p>
            <a:r>
              <a:rPr lang="en-US" sz="2800" dirty="0"/>
              <a:t>Enums</a:t>
            </a:r>
          </a:p>
          <a:p>
            <a:r>
              <a:rPr lang="en-US" sz="2800" dirty="0" err="1"/>
              <a:t>Annonyme</a:t>
            </a:r>
            <a:r>
              <a:rPr lang="en-US" sz="2800" dirty="0"/>
              <a:t> Klassen</a:t>
            </a:r>
          </a:p>
        </p:txBody>
      </p:sp>
    </p:spTree>
    <p:extLst>
      <p:ext uri="{BB962C8B-B14F-4D97-AF65-F5344CB8AC3E}">
        <p14:creationId xmlns:p14="http://schemas.microsoft.com/office/powerpoint/2010/main" val="487895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24A8-3545-0A5B-A5C5-635DA9E9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8900" y="639520"/>
            <a:ext cx="6286717" cy="807845"/>
          </a:xfrm>
        </p:spPr>
        <p:txBody>
          <a:bodyPr anchor="b">
            <a:noAutofit/>
          </a:bodyPr>
          <a:lstStyle/>
          <a:p>
            <a:r>
              <a:rPr lang="en-US" sz="3200" dirty="0"/>
              <a:t>Interface</a:t>
            </a:r>
            <a:endParaRPr lang="en-US" sz="440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272EE1-8CFF-C465-DB9B-9E58CC7E2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457" y="2018820"/>
            <a:ext cx="4307537" cy="4048086"/>
          </a:xfrm>
        </p:spPr>
        <p:txBody>
          <a:bodyPr anchor="t">
            <a:normAutofit fontScale="92500"/>
          </a:bodyPr>
          <a:lstStyle/>
          <a:p>
            <a:r>
              <a:rPr lang="en-US" altLang="en-US" sz="240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Sagt</a:t>
            </a:r>
            <a:r>
              <a:rPr lang="en-US" altLang="en-US" sz="2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welche</a:t>
            </a:r>
            <a:r>
              <a:rPr lang="en-US" altLang="en-US" sz="24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400" i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Fähigkeiten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Klasse </a:t>
            </a:r>
            <a:r>
              <a:rPr lang="en-US" altLang="en-US" sz="2400" dirty="0" err="1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haben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muss</a:t>
            </a:r>
          </a:p>
          <a:p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Keine </a:t>
            </a:r>
            <a:r>
              <a:rPr lang="en-US" alt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Objekterstellung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von Interface </a:t>
            </a:r>
            <a:r>
              <a:rPr lang="en-US" alt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mgl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Wofür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 </a:t>
            </a:r>
          </a:p>
          <a:p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Hausboot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ist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Haus,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aber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auch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schwimmen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kann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nicht von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mehreren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Klassen </a:t>
            </a:r>
            <a:r>
              <a:rPr lang="en-US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erben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also interfaces: </a:t>
            </a:r>
            <a:r>
              <a:rPr lang="en-US" sz="2400" dirty="0" err="1">
                <a:solidFill>
                  <a:srgbClr val="FFAFD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canSwim</a:t>
            </a:r>
            <a:endParaRPr lang="en-US" sz="2400" dirty="0">
              <a:solidFill>
                <a:srgbClr val="FFAFD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/>
          </a:p>
        </p:txBody>
      </p: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63DC28E-F70C-BEAA-315A-FB01974A8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72" y="2018820"/>
            <a:ext cx="7425585" cy="1224679"/>
          </a:xfrm>
          <a:prstGeom prst="rect">
            <a:avLst/>
          </a:prstGeom>
        </p:spPr>
      </p:pic>
      <p:pic>
        <p:nvPicPr>
          <p:cNvPr id="10" name="Picture 9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4BAED27B-D7EF-A438-D0A9-964722BC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986" y="4106617"/>
            <a:ext cx="6971555" cy="196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6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C33C3-5A5D-79B7-0A00-F8C0EFA25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Wann </a:t>
            </a:r>
            <a:r>
              <a:rPr lang="en-US" dirty="0" err="1"/>
              <a:t>verwende</a:t>
            </a:r>
            <a:r>
              <a:rPr lang="en-US" dirty="0"/>
              <a:t> ich was?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76510F-A3D3-7F4B-1F42-9036365406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559115"/>
              </p:ext>
            </p:extLst>
          </p:nvPr>
        </p:nvGraphicFramePr>
        <p:xfrm>
          <a:off x="838200" y="1836078"/>
          <a:ext cx="10771414" cy="4825144"/>
        </p:xfrm>
        <a:graphic>
          <a:graphicData uri="http://schemas.openxmlformats.org/drawingml/2006/table">
            <a:tbl>
              <a:tblPr/>
              <a:tblGrid>
                <a:gridCol w="5385707">
                  <a:extLst>
                    <a:ext uri="{9D8B030D-6E8A-4147-A177-3AD203B41FA5}">
                      <a16:colId xmlns:a16="http://schemas.microsoft.com/office/drawing/2014/main" val="950376979"/>
                    </a:ext>
                  </a:extLst>
                </a:gridCol>
                <a:gridCol w="5385707">
                  <a:extLst>
                    <a:ext uri="{9D8B030D-6E8A-4147-A177-3AD203B41FA5}">
                      <a16:colId xmlns:a16="http://schemas.microsoft.com/office/drawing/2014/main" val="2987828820"/>
                    </a:ext>
                  </a:extLst>
                </a:gridCol>
              </a:tblGrid>
              <a:tr h="146383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Zweck: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782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abstract class</a:t>
                      </a:r>
                      <a:endParaRPr lang="en-US" sz="2400" dirty="0">
                        <a:solidFill>
                          <a:srgbClr val="FFAFD4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dirty="0" err="1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wenn</a:t>
                      </a:r>
                      <a:r>
                        <a:rPr lang="en-US" sz="2400" dirty="0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es </a:t>
                      </a:r>
                      <a:r>
                        <a:rPr lang="en-US" sz="2400" dirty="0" err="1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eine</a:t>
                      </a:r>
                      <a:r>
                        <a:rPr lang="en-US" sz="2400" dirty="0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„Art von Ding“ </a:t>
                      </a:r>
                      <a:r>
                        <a:rPr lang="en-US" sz="2400" dirty="0" err="1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ist</a:t>
                      </a:r>
                      <a:r>
                        <a:rPr lang="en-US" sz="2400" dirty="0">
                          <a:solidFill>
                            <a:srgbClr val="FFAFD4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(Nomen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), z. B.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Building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Vehicle –&gt; </a:t>
                      </a:r>
                      <a:r>
                        <a:rPr lang="en-US" sz="2400" i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nur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einmal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erweitern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122114"/>
                  </a:ext>
                </a:extLst>
              </a:tr>
              <a:tr h="245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interface</a:t>
                      </a:r>
                      <a:endParaRPr lang="en-US" sz="2400" dirty="0">
                        <a:solidFill>
                          <a:srgbClr val="ADFF8E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dirty="0" err="1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wenn</a:t>
                      </a:r>
                      <a:r>
                        <a:rPr lang="en-US" sz="2400" dirty="0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es </a:t>
                      </a:r>
                      <a:r>
                        <a:rPr lang="en-US" sz="2400" dirty="0" err="1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eine</a:t>
                      </a:r>
                      <a:r>
                        <a:rPr lang="en-US" sz="2400" dirty="0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„</a:t>
                      </a:r>
                      <a:r>
                        <a:rPr lang="en-US" sz="2400" dirty="0" err="1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Fähigkeit</a:t>
                      </a:r>
                      <a:r>
                        <a:rPr lang="en-US" sz="2400" dirty="0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“ </a:t>
                      </a:r>
                      <a:r>
                        <a:rPr lang="en-US" sz="2400" dirty="0" err="1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ist</a:t>
                      </a:r>
                      <a:r>
                        <a:rPr lang="en-US" sz="2400" dirty="0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2400" dirty="0" err="1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Adjektiv</a:t>
                      </a:r>
                      <a:r>
                        <a:rPr lang="en-US" sz="2400" dirty="0">
                          <a:solidFill>
                            <a:srgbClr val="ADFF8E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), </a:t>
                      </a: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z. B.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Swimmable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, 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Flyable -&gt; </a:t>
                      </a:r>
                      <a:r>
                        <a:rPr lang="en-US" sz="2400" i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viele</a:t>
                      </a:r>
                      <a:r>
                        <a:rPr lang="en-US" sz="2400" i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i="1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implementieren</a:t>
                      </a:r>
                      <a:endParaRPr lang="en-US" sz="24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696176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8D0BB27-19A9-06BD-502A-B813C9C0C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78471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buFontTx/>
              <a:buChar char="•"/>
            </a:pPr>
            <a:endParaRPr lang="en-US" altLang="en-US" dirty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EF6F717-479D-AE92-209C-B6E9B2318CFB}"/>
              </a:ext>
            </a:extLst>
          </p:cNvPr>
          <p:cNvSpPr/>
          <p:nvPr/>
        </p:nvSpPr>
        <p:spPr>
          <a:xfrm>
            <a:off x="3467781" y="3972542"/>
            <a:ext cx="2214562" cy="427028"/>
          </a:xfrm>
          <a:prstGeom prst="rightArrow">
            <a:avLst/>
          </a:prstGeom>
          <a:solidFill>
            <a:srgbClr val="FFAFD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FBE85201-9431-9CDA-021A-CE87F1E18196}"/>
              </a:ext>
            </a:extLst>
          </p:cNvPr>
          <p:cNvSpPr/>
          <p:nvPr/>
        </p:nvSpPr>
        <p:spPr>
          <a:xfrm>
            <a:off x="3467781" y="5700427"/>
            <a:ext cx="2214562" cy="385762"/>
          </a:xfrm>
          <a:prstGeom prst="rightArrow">
            <a:avLst/>
          </a:prstGeom>
          <a:solidFill>
            <a:srgbClr val="ADFF8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373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673306-9280-1C1D-C0E9-44E68E988334}"/>
              </a:ext>
            </a:extLst>
          </p:cNvPr>
          <p:cNvSpPr/>
          <p:nvPr/>
        </p:nvSpPr>
        <p:spPr>
          <a:xfrm>
            <a:off x="1829706" y="3349029"/>
            <a:ext cx="8532586" cy="15705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F67198-D5D6-ADB0-5F71-D99DEA17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2830"/>
            <a:ext cx="10515600" cy="1325563"/>
          </a:xfrm>
        </p:spPr>
        <p:txBody>
          <a:bodyPr/>
          <a:lstStyle/>
          <a:p>
            <a:r>
              <a:rPr lang="en-US" dirty="0"/>
              <a:t>Coding to an Interface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78B04AE-0138-D61A-4953-9A3BC96F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6215" y="3334532"/>
            <a:ext cx="811956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MERKEN: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Variablen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-, Parameter- und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Rückgabetypen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möglichst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abstrakt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wählen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damit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die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konkrete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Implementierung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austauschbar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bleibt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838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1428E-D2AE-F7DD-D817-324DEC34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Aufgabe </a:t>
            </a:r>
            <a:r>
              <a:rPr lang="en-US" dirty="0" err="1"/>
              <a:t>PaymentProvider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BED2B-5EAA-01A9-EE98-57E4119DD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8345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2EB8263-AF48-13CA-7A0D-6C1FF250C8C1}"/>
              </a:ext>
            </a:extLst>
          </p:cNvPr>
          <p:cNvSpPr txBox="1"/>
          <p:nvPr/>
        </p:nvSpPr>
        <p:spPr>
          <a:xfrm>
            <a:off x="666726" y="265634"/>
            <a:ext cx="10444480" cy="6326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Du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sollst</a:t>
            </a: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</a:t>
            </a: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kleine</a:t>
            </a: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Klassenhierarchie</a:t>
            </a: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rund</a:t>
            </a: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um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Messreihen</a:t>
            </a:r>
            <a:r>
              <a:rPr lang="en-US" altLang="en-US" sz="2000" b="1" u="sng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sz="2000" b="1" u="sng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bauen</a:t>
            </a:r>
            <a:endParaRPr lang="en-US" altLang="en-US" sz="2000" b="1" u="sng" dirty="0">
              <a:solidFill>
                <a:schemeClr val="bg1"/>
              </a:solidFill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Dazu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erstellst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du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zuerst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abstrakte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Klasse 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Messreihe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mit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einem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geschützten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int[]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einem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passenden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Konstruktor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konkreten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Methode 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max()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die den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größten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Wert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im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Array per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Schleife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bestimmt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und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abstrakten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Methode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berechneKennwert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Dann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definierst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du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Interface 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Exportierbar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mit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der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Konstante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 STANDARD_TRENNER = ";"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abstrakten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Methode 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String 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exportiere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(String 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trenner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statischen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Methode 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static int sum(int... 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die alle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übergebenen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Werte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aufsummiert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und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einer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Default-Methode 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exportiereStandard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die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exportiere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(STANDARD_TRENNER)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aufruft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Anschließend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implementierst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du 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die 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konkrete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Klasse 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DurchschnittsMessreihe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 die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Messreihe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erweitert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und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Exportierbar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implementiert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: 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berechneKennwert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berechnet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den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Durchschnitt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der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Werte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,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exportiere</a:t>
            </a:r>
            <a:r>
              <a:rPr lang="en-US" altLang="en-US" dirty="0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(String </a:t>
            </a:r>
            <a:r>
              <a:rPr lang="en-US" altLang="en-US" dirty="0" err="1">
                <a:solidFill>
                  <a:srgbClr val="0082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trenner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gibt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alle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Werte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als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String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mit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dem Trenner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verbunden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zurück</a:t>
            </a:r>
            <a:r>
              <a:rPr lang="en-US" altLang="en-US" dirty="0">
                <a:solidFill>
                  <a:srgbClr val="623C9F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(z. B. </a:t>
            </a:r>
            <a:r>
              <a:rPr lang="en-US" altLang="en-US" dirty="0">
                <a:solidFill>
                  <a:srgbClr val="623C9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"1;2;3"</a:t>
            </a:r>
            <a:r>
              <a:rPr lang="en-US" altLang="en-US" dirty="0">
                <a:solidFill>
                  <a:srgbClr val="623C9F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). 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In der Main Methode 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legst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du 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ein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int[]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mit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Beispielwerten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an und </a:t>
            </a:r>
            <a:r>
              <a:rPr lang="en-US" altLang="en-US" dirty="0" err="1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dann</a:t>
            </a:r>
            <a:r>
              <a:rPr lang="en-US" altLang="en-US" dirty="0">
                <a:solidFill>
                  <a:srgbClr val="0084D8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: </a:t>
            </a:r>
          </a:p>
          <a:p>
            <a:pPr>
              <a:lnSpc>
                <a:spcPct val="150000"/>
              </a:lnSpc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altLang="en-US" dirty="0">
              <a:solidFill>
                <a:schemeClr val="bg1"/>
              </a:solidFill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und 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rufst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passende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Methoden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zu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den </a:t>
            </a:r>
            <a:r>
              <a:rPr lang="en-US" altLang="en-US" dirty="0" err="1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Objekten</a:t>
            </a:r>
            <a:r>
              <a:rPr lang="en-US" altLang="en-US" dirty="0">
                <a:solidFill>
                  <a:schemeClr val="bg1"/>
                </a:solidFill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auf.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288EF70-3600-DE6D-F470-8116AF8DAB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760" y="5437877"/>
            <a:ext cx="5346700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365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07B82-0D65-9B4D-3B32-56E9F472B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ENUM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F7BD066-A367-C6CA-45C8-3C74E264D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4094" y="2503451"/>
            <a:ext cx="586291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Idee:</a:t>
            </a:r>
          </a:p>
          <a:p>
            <a:pPr>
              <a:lnSpc>
                <a:spcPct val="100000"/>
              </a:lnSpc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eigener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Datentyp</a:t>
            </a:r>
            <a:endParaRPr lang="en-US" altLang="en-US" sz="2800" dirty="0"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-&gt;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feste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endliche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Menge von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FFAFD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Werten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FFAFD4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US" altLang="en-US" sz="2800" b="1" dirty="0">
              <a:latin typeface="Calibri" panose="020F0502020204030204" pitchFamily="34" charset="0"/>
              <a:ea typeface="-webkit-standard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ea typeface="-webkit-standard"/>
                <a:cs typeface="Calibri" panose="020F0502020204030204" pitchFamily="34" charset="0"/>
              </a:rPr>
              <a:t> </a:t>
            </a:r>
          </a:p>
          <a:p>
            <a:pPr>
              <a:lnSpc>
                <a:spcPct val="100000"/>
              </a:lnSpc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rgbClr val="ADFF8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Wochentag.values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DFF8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bekommt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man die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Werte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ADFF8E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Array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185DF1-8327-9F61-6B30-1D2F79F2F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5993" y="2503554"/>
            <a:ext cx="5321913" cy="33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732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822D-668F-97F6-9D79-B489272E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Aufgabe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3443A-9E2E-C886-02D3-D786BCF0B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3780685"/>
          </a:xfrm>
        </p:spPr>
        <p:txBody>
          <a:bodyPr>
            <a:normAutofit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Erstelle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für die </a:t>
            </a:r>
            <a:r>
              <a:rPr lang="en-US" altLang="en-US" sz="2800" b="1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Farbe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(Suit)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einer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Spielkarte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 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enum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für den </a:t>
            </a:r>
            <a:r>
              <a:rPr lang="en-US" altLang="en-US" sz="28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Wert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 (Rank)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einer</a:t>
            </a: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Spielkarte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 Klasse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Card, die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beides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kombiniert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28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Eine Klasse 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Deck, die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Array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aus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52 Karten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enthält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US" altLang="en-US" sz="28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efülle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dieses</a:t>
            </a: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4841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6A285-68BA-207F-D47B-BD251F368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Annonyme</a:t>
            </a:r>
            <a:r>
              <a:rPr lang="en-US" dirty="0"/>
              <a:t> Klassen</a:t>
            </a:r>
          </a:p>
        </p:txBody>
      </p:sp>
      <p:pic>
        <p:nvPicPr>
          <p:cNvPr id="7" name="Content Placeholder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DFD8F9BE-05DC-AF50-5758-00CF06902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576373" y="2834023"/>
            <a:ext cx="7039253" cy="28905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6322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4BF79-9E18-876B-758F-CCA089D17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– Code </a:t>
            </a:r>
            <a:r>
              <a:rPr lang="en-US" dirty="0" err="1"/>
              <a:t>kommt</a:t>
            </a:r>
            <a:r>
              <a:rPr lang="en-US" dirty="0"/>
              <a:t> </a:t>
            </a:r>
            <a:r>
              <a:rPr lang="en-US" dirty="0" err="1"/>
              <a:t>später</a:t>
            </a:r>
            <a:endParaRPr lang="en-US" dirty="0"/>
          </a:p>
        </p:txBody>
      </p:sp>
      <p:pic>
        <p:nvPicPr>
          <p:cNvPr id="5" name="Content Placeholder 4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24EC03EC-2ACE-BBDA-FF1A-AA75749279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5013" y="2638425"/>
            <a:ext cx="3101975" cy="3101975"/>
          </a:xfrm>
        </p:spPr>
      </p:pic>
    </p:spTree>
    <p:extLst>
      <p:ext uri="{BB962C8B-B14F-4D97-AF65-F5344CB8AC3E}">
        <p14:creationId xmlns:p14="http://schemas.microsoft.com/office/powerpoint/2010/main" val="29279282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0BDC4BB7-8AF9-46FD-8C32-AB93AC9C41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6186</TotalTime>
  <Words>380</Words>
  <Application>Microsoft Macintosh PowerPoint</Application>
  <PresentationFormat>Widescreen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Gill Sans MT</vt:lpstr>
      <vt:lpstr>Parcel</vt:lpstr>
      <vt:lpstr>Tutorial 8</vt:lpstr>
      <vt:lpstr>Todo:</vt:lpstr>
      <vt:lpstr>Interface</vt:lpstr>
      <vt:lpstr>Wann verwende ich was?</vt:lpstr>
      <vt:lpstr>Coding to an Interface</vt:lpstr>
      <vt:lpstr>Aufgabe PaymentProvider</vt:lpstr>
      <vt:lpstr>PowerPoint Presentation</vt:lpstr>
      <vt:lpstr>ENUM</vt:lpstr>
      <vt:lpstr>Aufgabe</vt:lpstr>
      <vt:lpstr>Annonyme Klassen</vt:lpstr>
      <vt:lpstr>GitHUb – Code kommt später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17604601235325742515273410334</dc:creator>
  <cp:lastModifiedBy>TU-Pseudonym 17604601235325742515273410334</cp:lastModifiedBy>
  <cp:revision>2</cp:revision>
  <dcterms:created xsi:type="dcterms:W3CDTF">2025-12-04T11:52:44Z</dcterms:created>
  <dcterms:modified xsi:type="dcterms:W3CDTF">2025-12-17T10:13:52Z</dcterms:modified>
</cp:coreProperties>
</file>